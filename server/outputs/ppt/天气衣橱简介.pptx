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从用户实际痛点出发，阐明项目诞生的必要性。数据显示70%的用户都遇到过因天气导致的穿搭失误。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通过对比直观展示天气衣橱带来的效率革命和体验升级。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采用经典分层架构，确保高内聚低耦合，易于后期扩展和功能迭代。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独创双通道数据源保证了推荐的客观性与时尚感，同时具备反爬和调度机制。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围绕核心推荐能力，设计了配套功能提升整体工具体验。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UI设计注重信息密度与操作直观性，符合现代审美。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数据库设计简洁且足够支持当前功能，同时预留了未来扩展推荐算法的数据基础。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推荐流程清晰可解释，兼顾规则和用户偏好，具备冷启动与学习能力。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数据证明系统有效解决了痛点，性能良好，具备实际应用价值。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EF3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201400" y="0"/>
            <a:ext cx="137160" cy="6858000"/>
          </a:xfrm>
          <a:prstGeom prst="rect">
            <a:avLst/>
          </a:prstGeom>
          <a:solidFill>
            <a:srgbClr val="DDE7F5"/>
          </a:solidFill>
          <a:ln w="12700">
            <a:solidFill>
              <a:srgbClr val="DDE7F5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972800" y="5943600"/>
            <a:ext cx="731520" cy="731520"/>
          </a:xfrm>
          <a:prstGeom prst="ellipse">
            <a:avLst/>
          </a:prstGeom>
          <a:solidFill>
            <a:srgbClr val="AFC1DE">
              <a:alpha val="65000"/>
            </a:srgbClr>
          </a:solidFill>
          <a:ln w="12700">
            <a:solidFill>
              <a:srgbClr val="AFC1DE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457200"/>
            <a:ext cx="11521440" cy="5806440"/>
          </a:xfrm>
          <a:prstGeom prst="roundRect">
            <a:avLst>
              <a:gd name="adj" fmla="val 2835"/>
            </a:avLst>
          </a:prstGeom>
          <a:solidFill>
            <a:srgbClr val="FFFFFF">
              <a:alpha val="92000"/>
            </a:srgbClr>
          </a:solidFill>
          <a:ln w="12700">
            <a:solidFill>
              <a:srgbClr val="AFC1DE">
                <a:alpha val="9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49808" y="731520"/>
            <a:ext cx="2194560" cy="457200"/>
          </a:xfrm>
          <a:prstGeom prst="roundRect">
            <a:avLst>
              <a:gd name="adj" fmla="val 24000"/>
            </a:avLst>
          </a:prstGeom>
          <a:solidFill>
            <a:srgbClr val="DDE7F5"/>
          </a:solidFill>
          <a:ln w="12700">
            <a:solidFill>
              <a:srgbClr val="DDE7F5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82296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A4A66"/>
                </a:solidFill>
              </a:rPr>
              <a:t>答辩PPT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68680" y="1554480"/>
            <a:ext cx="98755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A4A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天气衣橱 —— 智能穿搭助手方案答辩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896112" y="2743200"/>
            <a:ext cx="9601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F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基于爬虫与数据驱动的个性化穿搭决策系统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914400" y="3749040"/>
            <a:ext cx="324612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12700">
            <a:solidFill>
              <a:srgbClr val="AFC1DE">
                <a:alpha val="78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78992" y="3913632"/>
            <a:ext cx="1371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B7A"/>
                </a:solidFill>
              </a:rPr>
              <a:t>文档来源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078992" y="4169664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A4A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天气衣橱简介.docx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26280" y="3749040"/>
            <a:ext cx="324612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12700">
            <a:solidFill>
              <a:srgbClr val="AFC1DE">
                <a:alpha val="78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90872" y="3913632"/>
            <a:ext cx="1371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B7A"/>
                </a:solidFill>
              </a:rPr>
              <a:t>PPT 类型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690872" y="4169664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A4A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答辩PPT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138160" y="3749040"/>
            <a:ext cx="324612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12700">
            <a:solidFill>
              <a:srgbClr val="AFC1DE">
                <a:alpha val="78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302752" y="3913632"/>
            <a:ext cx="1371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B7A"/>
                </a:solidFill>
              </a:rPr>
              <a:t>页数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8302752" y="4169664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A4A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96112" y="507492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F6B7A"/>
                </a:solidFill>
              </a:rPr>
              <a:t>生成时间：2026/7/2 05:28:45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EF3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201400" y="0"/>
            <a:ext cx="137160" cy="6858000"/>
          </a:xfrm>
          <a:prstGeom prst="rect">
            <a:avLst/>
          </a:prstGeom>
          <a:solidFill>
            <a:srgbClr val="DDE7F5"/>
          </a:solidFill>
          <a:ln w="12700">
            <a:solidFill>
              <a:srgbClr val="DDE7F5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972800" y="5943600"/>
            <a:ext cx="731520" cy="731520"/>
          </a:xfrm>
          <a:prstGeom prst="ellipse">
            <a:avLst/>
          </a:prstGeom>
          <a:solidFill>
            <a:srgbClr val="AFC1DE">
              <a:alpha val="65000"/>
            </a:srgbClr>
          </a:solidFill>
          <a:ln w="12700">
            <a:solidFill>
              <a:srgbClr val="AFC1DE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411480"/>
            <a:ext cx="10789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A4A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目录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12648" y="932688"/>
            <a:ext cx="10515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F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方案讲解路线图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11155680" y="384048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FC1D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94360" y="1243584"/>
            <a:ext cx="10972800" cy="0"/>
          </a:xfrm>
          <a:prstGeom prst="line">
            <a:avLst/>
          </a:prstGeom>
          <a:noFill/>
          <a:ln w="12700">
            <a:solidFill>
              <a:srgbClr val="AFC1D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22960" y="178308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AFC1DE"/>
          </a:solidFill>
          <a:ln w="12700">
            <a:solidFill>
              <a:srgbClr val="AFC1DE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05256" y="1847088"/>
            <a:ext cx="18288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01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1371600" y="1764792"/>
            <a:ext cx="8961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A4A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项目背景与痛点分析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0789920" y="1764792"/>
            <a:ext cx="274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FC1DE"/>
                </a:solidFill>
              </a:rPr>
              <a:t>—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22960" y="2441448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AFC1DE"/>
          </a:solidFill>
          <a:ln w="12700">
            <a:solidFill>
              <a:srgbClr val="AFC1DE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05256" y="2505456"/>
            <a:ext cx="18288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02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1371600" y="2423160"/>
            <a:ext cx="8961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A4A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传统穿搭与智能穿搭对比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0789920" y="2423160"/>
            <a:ext cx="274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FC1DE"/>
                </a:solidFill>
              </a:rPr>
              <a:t>—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22960" y="3099816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AFC1DE"/>
          </a:solidFill>
          <a:ln w="12700">
            <a:solidFill>
              <a:srgbClr val="AFC1DE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05256" y="3163824"/>
            <a:ext cx="18288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03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1371600" y="3081528"/>
            <a:ext cx="8961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A4A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系统总体技术架构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0789920" y="3081528"/>
            <a:ext cx="274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FC1DE"/>
                </a:solidFill>
              </a:rPr>
              <a:t>—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822960" y="3758184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AFC1DE"/>
          </a:solidFill>
          <a:ln w="12700">
            <a:solidFill>
              <a:srgbClr val="AFC1DE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05256" y="3822192"/>
            <a:ext cx="18288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04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1371600" y="3739896"/>
            <a:ext cx="8961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A4A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数据获取双通道流程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0789920" y="3739896"/>
            <a:ext cx="274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FC1DE"/>
                </a:solidFill>
              </a:rPr>
              <a:t>—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822960" y="4416552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AFC1DE"/>
          </a:solidFill>
          <a:ln w="12700">
            <a:solidFill>
              <a:srgbClr val="AFC1DE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05256" y="4480560"/>
            <a:ext cx="18288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05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1371600" y="4398264"/>
            <a:ext cx="8961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A4A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 核心功能模块设计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10789920" y="4398264"/>
            <a:ext cx="274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FC1DE"/>
                </a:solidFill>
              </a:rPr>
              <a:t>—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822960" y="507492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AFC1DE"/>
          </a:solidFill>
          <a:ln w="12700">
            <a:solidFill>
              <a:srgbClr val="AFC1DE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05256" y="5138928"/>
            <a:ext cx="18288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06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1371600" y="5056632"/>
            <a:ext cx="8961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A4A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6. 图形用户界面交互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10789920" y="5056632"/>
            <a:ext cx="274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FC1DE"/>
                </a:solidFill>
              </a:rPr>
              <a:t>—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EF3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201400" y="0"/>
            <a:ext cx="137160" cy="6858000"/>
          </a:xfrm>
          <a:prstGeom prst="rect">
            <a:avLst/>
          </a:prstGeom>
          <a:solidFill>
            <a:srgbClr val="DDE7F5"/>
          </a:solidFill>
          <a:ln w="12700">
            <a:solidFill>
              <a:srgbClr val="DDE7F5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972800" y="5943600"/>
            <a:ext cx="731520" cy="731520"/>
          </a:xfrm>
          <a:prstGeom prst="ellipse">
            <a:avLst/>
          </a:prstGeom>
          <a:solidFill>
            <a:srgbClr val="AFC1DE">
              <a:alpha val="65000"/>
            </a:srgbClr>
          </a:solidFill>
          <a:ln w="12700">
            <a:solidFill>
              <a:srgbClr val="AFC1DE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411480"/>
            <a:ext cx="10789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A4A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项目背景与痛点分析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12648" y="932688"/>
            <a:ext cx="10515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F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为什么需要天气衣橱？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11155680" y="384048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FC1D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94360" y="1243584"/>
            <a:ext cx="10972800" cy="0"/>
          </a:xfrm>
          <a:prstGeom prst="line">
            <a:avLst/>
          </a:prstGeom>
          <a:noFill/>
          <a:ln w="12700">
            <a:solidFill>
              <a:srgbClr val="AFC1D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1645920"/>
            <a:ext cx="10972800" cy="448056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AFC1DE">
                <a:alpha val="8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14400" y="1938528"/>
            <a:ext cx="5532120" cy="566928"/>
          </a:xfrm>
          <a:prstGeom prst="roundRect">
            <a:avLst>
              <a:gd name="adj" fmla="val 12903"/>
            </a:avLst>
          </a:prstGeom>
          <a:solidFill>
            <a:srgbClr val="DDE7F5"/>
          </a:solidFill>
          <a:ln w="12700">
            <a:solidFill>
              <a:srgbClr val="AFC1DE">
                <a:alpha val="65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97280" y="2084832"/>
            <a:ext cx="5212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A4A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超过70%的用户曾因天气预报不准或疏忽导致穿衣不当，影响舒适与健康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914400" y="2651760"/>
            <a:ext cx="553212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AFC1DE">
                <a:alpha val="65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97280" y="2798064"/>
            <a:ext cx="5212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A4A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传统天气APP仅提供气温、湿度等数据，缺乏直观的穿搭建议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914400" y="3364992"/>
            <a:ext cx="5532120" cy="566928"/>
          </a:xfrm>
          <a:prstGeom prst="roundRect">
            <a:avLst>
              <a:gd name="adj" fmla="val 12903"/>
            </a:avLst>
          </a:prstGeom>
          <a:solidFill>
            <a:srgbClr val="DDE7F5"/>
          </a:solidFill>
          <a:ln w="12700">
            <a:solidFill>
              <a:srgbClr val="AFC1DE">
                <a:alpha val="65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97280" y="3511296"/>
            <a:ext cx="5212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A4A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用户需在多个平台手动搜索搭配，信息碎片化、时效性低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914400" y="4078224"/>
            <a:ext cx="553212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AFC1DE">
                <a:alpha val="65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97280" y="4224528"/>
            <a:ext cx="5212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A4A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年轻白领与学生群体追求高效生活，需要“一键即得”的出门方案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914400" y="4791456"/>
            <a:ext cx="5532120" cy="566928"/>
          </a:xfrm>
          <a:prstGeom prst="roundRect">
            <a:avLst>
              <a:gd name="adj" fmla="val 12903"/>
            </a:avLst>
          </a:prstGeom>
          <a:solidFill>
            <a:srgbClr val="DDE7F5"/>
          </a:solidFill>
          <a:ln w="12700">
            <a:solidFill>
              <a:srgbClr val="AFC1DE">
                <a:alpha val="65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97280" y="4937760"/>
            <a:ext cx="5212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A4A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小红书等社区穿搭内容丰富但缺乏与实时天气的精准关联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812280" y="1965960"/>
            <a:ext cx="4526280" cy="1965960"/>
          </a:xfrm>
          <a:prstGeom prst="roundRect">
            <a:avLst>
              <a:gd name="adj" fmla="val 5581"/>
            </a:avLst>
          </a:prstGeom>
          <a:solidFill>
            <a:srgbClr val="FFFFFF">
              <a:alpha val="88000"/>
            </a:srgbClr>
          </a:solidFill>
          <a:ln w="12700">
            <a:solidFill>
              <a:srgbClr val="AFC1D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132320" y="2286000"/>
            <a:ext cx="502920" cy="502920"/>
          </a:xfrm>
          <a:prstGeom prst="ellipse">
            <a:avLst/>
          </a:prstGeom>
          <a:solidFill>
            <a:srgbClr val="DDE7F5"/>
          </a:solidFill>
          <a:ln w="12700">
            <a:solidFill>
              <a:srgbClr val="AFC1DE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772400" y="2377440"/>
            <a:ext cx="3246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A4A66"/>
                </a:solidFill>
              </a:rPr>
              <a:t>图片 / 图标 / 截图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132320" y="2880360"/>
            <a:ext cx="3886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F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一张图表展示调研数据：70%用户有过穿衣失误经历，柱状图显示因天气造成的不便类型（太热、太冷、淋雨等）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7132320" y="3611880"/>
            <a:ext cx="3886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F6B7A"/>
                </a:solidFill>
              </a:rPr>
              <a:t>建议关键词：痛点 / 调研数据 / 柱状图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6876288" y="1874520"/>
            <a:ext cx="4754880" cy="2971800"/>
          </a:xfrm>
          <a:prstGeom prst="roundRect">
            <a:avLst>
              <a:gd name="adj" fmla="val 3077"/>
            </a:avLst>
          </a:prstGeom>
          <a:solidFill>
            <a:srgbClr val="FFFFFF">
              <a:alpha val="90000"/>
            </a:srgbClr>
          </a:solidFill>
          <a:ln w="12700">
            <a:solidFill>
              <a:srgbClr val="AFC1DE">
                <a:alpha val="85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086600" y="2103120"/>
            <a:ext cx="914400" cy="2103120"/>
          </a:xfrm>
          <a:prstGeom prst="roundRect">
            <a:avLst>
              <a:gd name="adj" fmla="val 8000"/>
            </a:avLst>
          </a:prstGeom>
          <a:solidFill>
            <a:srgbClr val="DDE7F5"/>
          </a:solidFill>
          <a:ln w="12700">
            <a:solidFill>
              <a:srgbClr val="AFC1DE">
                <a:alpha val="10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183880" y="1828800"/>
            <a:ext cx="914400" cy="2377440"/>
          </a:xfrm>
          <a:prstGeom prst="roundRect">
            <a:avLst>
              <a:gd name="adj" fmla="val 8000"/>
            </a:avLst>
          </a:prstGeom>
          <a:solidFill>
            <a:srgbClr val="AFC1DE"/>
          </a:solidFill>
          <a:ln w="12700">
            <a:solidFill>
              <a:srgbClr val="AFC1DE">
                <a:alpha val="10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281160" y="2240280"/>
            <a:ext cx="914400" cy="1965960"/>
          </a:xfrm>
          <a:prstGeom prst="roundRect">
            <a:avLst>
              <a:gd name="adj" fmla="val 8000"/>
            </a:avLst>
          </a:prstGeom>
          <a:solidFill>
            <a:srgbClr val="DDE7F5"/>
          </a:solidFill>
          <a:ln w="12700">
            <a:solidFill>
              <a:srgbClr val="AFC1DE">
                <a:alpha val="10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0378440" y="2011680"/>
            <a:ext cx="914400" cy="2194560"/>
          </a:xfrm>
          <a:prstGeom prst="roundRect">
            <a:avLst>
              <a:gd name="adj" fmla="val 8000"/>
            </a:avLst>
          </a:prstGeom>
          <a:solidFill>
            <a:srgbClr val="AFC1DE"/>
          </a:solidFill>
          <a:ln w="12700">
            <a:solidFill>
              <a:srgbClr val="AFC1DE">
                <a:alpha val="10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543800" y="4590288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3A4A66"/>
                </a:solidFill>
              </a:rPr>
              <a:t>图片占位区</a:t>
            </a:r>
            <a:endParaRPr lang="en-US" sz="1350" dirty="0"/>
          </a:p>
        </p:txBody>
      </p:sp>
      <p:sp>
        <p:nvSpPr>
          <p:cNvPr id="30" name="Text 28"/>
          <p:cNvSpPr/>
          <p:nvPr/>
        </p:nvSpPr>
        <p:spPr>
          <a:xfrm>
            <a:off x="7132320" y="4892040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F6B7A"/>
                </a:solidFill>
              </a:rPr>
              <a:t>关键词：痛点 / 调研数据 / 柱状图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EF3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201400" y="0"/>
            <a:ext cx="137160" cy="6858000"/>
          </a:xfrm>
          <a:prstGeom prst="rect">
            <a:avLst/>
          </a:prstGeom>
          <a:solidFill>
            <a:srgbClr val="DDE7F5"/>
          </a:solidFill>
          <a:ln w="12700">
            <a:solidFill>
              <a:srgbClr val="DDE7F5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972800" y="5943600"/>
            <a:ext cx="731520" cy="731520"/>
          </a:xfrm>
          <a:prstGeom prst="ellipse">
            <a:avLst/>
          </a:prstGeom>
          <a:solidFill>
            <a:srgbClr val="AFC1DE">
              <a:alpha val="65000"/>
            </a:srgbClr>
          </a:solidFill>
          <a:ln w="12700">
            <a:solidFill>
              <a:srgbClr val="AFC1DE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411480"/>
            <a:ext cx="10789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A4A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传统穿搭 VS 智能穿搭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12648" y="932688"/>
            <a:ext cx="10515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F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决策效率与精准度的代际差异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11155680" y="384048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FC1D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94360" y="1243584"/>
            <a:ext cx="10972800" cy="0"/>
          </a:xfrm>
          <a:prstGeom prst="line">
            <a:avLst/>
          </a:prstGeom>
          <a:noFill/>
          <a:ln w="12700">
            <a:solidFill>
              <a:srgbClr val="AFC1D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1645920"/>
            <a:ext cx="5303520" cy="448056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AFC1DE">
                <a:alpha val="8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172200" y="1645920"/>
            <a:ext cx="5532120" cy="4480560"/>
          </a:xfrm>
          <a:prstGeom prst="roundRect">
            <a:avLst>
              <a:gd name="adj" fmla="val 2857"/>
            </a:avLst>
          </a:prstGeom>
          <a:solidFill>
            <a:srgbClr val="DDE7F5"/>
          </a:solidFill>
          <a:ln w="12700">
            <a:solidFill>
              <a:srgbClr val="AFC1DE">
                <a:alpha val="75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96112" y="187452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A4A66"/>
                </a:solidFill>
              </a:rPr>
              <a:t>A 组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914400" y="2240280"/>
            <a:ext cx="4663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F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信息源：传统方式依赖多个APP/网站；智能穿搭自动聚合天气与穿搭数据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914400" y="2990088"/>
            <a:ext cx="4663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F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决策时间：传统平均5-10分钟；天气衣橱秒级响应推荐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914400" y="3739896"/>
            <a:ext cx="4663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F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适配度：传统凭经验易出错；智能算法基于实时数据+热门搭配双重校准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914400" y="4489704"/>
            <a:ext cx="4663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F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个性化：传统无差别推荐；系统可学习用户偏好，越用越准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446520" y="187452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A4A66"/>
                </a:solidFill>
              </a:rPr>
              <a:t>B 组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46520" y="2240280"/>
            <a:ext cx="4709160" cy="1691640"/>
          </a:xfrm>
          <a:prstGeom prst="roundRect">
            <a:avLst>
              <a:gd name="adj" fmla="val 6486"/>
            </a:avLst>
          </a:prstGeom>
          <a:solidFill>
            <a:srgbClr val="FFFFFF">
              <a:alpha val="88000"/>
            </a:srgbClr>
          </a:solidFill>
          <a:ln w="12700">
            <a:solidFill>
              <a:srgbClr val="AFC1D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766560" y="2560320"/>
            <a:ext cx="502920" cy="502920"/>
          </a:xfrm>
          <a:prstGeom prst="ellipse">
            <a:avLst/>
          </a:prstGeom>
          <a:solidFill>
            <a:srgbClr val="DDE7F5"/>
          </a:solidFill>
          <a:ln w="12700">
            <a:solidFill>
              <a:srgbClr val="AFC1DE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406640" y="2651760"/>
            <a:ext cx="3429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A4A66"/>
                </a:solidFill>
              </a:rPr>
              <a:t>图片 / 图标 / 截图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766560" y="3154680"/>
            <a:ext cx="4069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F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左右对比图，左侧为混乱的手工查询场景（多个手机窗口），右侧为简洁的智能推荐界面，中间用VS箭头连接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6766560" y="3611880"/>
            <a:ext cx="4069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F6B7A"/>
                </a:solidFill>
              </a:rPr>
              <a:t>建议关键词：对比 / 传统 / 智能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6876288" y="1874520"/>
            <a:ext cx="4754880" cy="2971800"/>
          </a:xfrm>
          <a:prstGeom prst="roundRect">
            <a:avLst>
              <a:gd name="adj" fmla="val 3077"/>
            </a:avLst>
          </a:prstGeom>
          <a:solidFill>
            <a:srgbClr val="FFFFFF">
              <a:alpha val="90000"/>
            </a:srgbClr>
          </a:solidFill>
          <a:ln w="12700">
            <a:solidFill>
              <a:srgbClr val="AFC1DE">
                <a:alpha val="85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086600" y="2103120"/>
            <a:ext cx="914400" cy="2103120"/>
          </a:xfrm>
          <a:prstGeom prst="roundRect">
            <a:avLst>
              <a:gd name="adj" fmla="val 8000"/>
            </a:avLst>
          </a:prstGeom>
          <a:solidFill>
            <a:srgbClr val="DDE7F5"/>
          </a:solidFill>
          <a:ln w="12700">
            <a:solidFill>
              <a:srgbClr val="AFC1DE">
                <a:alpha val="1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183880" y="1828800"/>
            <a:ext cx="914400" cy="2377440"/>
          </a:xfrm>
          <a:prstGeom prst="roundRect">
            <a:avLst>
              <a:gd name="adj" fmla="val 8000"/>
            </a:avLst>
          </a:prstGeom>
          <a:solidFill>
            <a:srgbClr val="AFC1DE"/>
          </a:solidFill>
          <a:ln w="12700">
            <a:solidFill>
              <a:srgbClr val="AFC1DE">
                <a:alpha val="10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281160" y="2240280"/>
            <a:ext cx="914400" cy="1965960"/>
          </a:xfrm>
          <a:prstGeom prst="roundRect">
            <a:avLst>
              <a:gd name="adj" fmla="val 8000"/>
            </a:avLst>
          </a:prstGeom>
          <a:solidFill>
            <a:srgbClr val="DDE7F5"/>
          </a:solidFill>
          <a:ln w="12700">
            <a:solidFill>
              <a:srgbClr val="AFC1DE">
                <a:alpha val="10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0378440" y="2011680"/>
            <a:ext cx="914400" cy="2194560"/>
          </a:xfrm>
          <a:prstGeom prst="roundRect">
            <a:avLst>
              <a:gd name="adj" fmla="val 8000"/>
            </a:avLst>
          </a:prstGeom>
          <a:solidFill>
            <a:srgbClr val="AFC1DE"/>
          </a:solidFill>
          <a:ln w="12700">
            <a:solidFill>
              <a:srgbClr val="AFC1DE">
                <a:alpha val="10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543800" y="4590288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3A4A66"/>
                </a:solidFill>
              </a:rPr>
              <a:t>图片占位区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7132320" y="4892040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F6B7A"/>
                </a:solidFill>
              </a:rPr>
              <a:t>关键词：对比 / 传统 / 智能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EF3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201400" y="0"/>
            <a:ext cx="137160" cy="6858000"/>
          </a:xfrm>
          <a:prstGeom prst="rect">
            <a:avLst/>
          </a:prstGeom>
          <a:solidFill>
            <a:srgbClr val="DDE7F5"/>
          </a:solidFill>
          <a:ln w="12700">
            <a:solidFill>
              <a:srgbClr val="DDE7F5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972800" y="5943600"/>
            <a:ext cx="731520" cy="731520"/>
          </a:xfrm>
          <a:prstGeom prst="ellipse">
            <a:avLst/>
          </a:prstGeom>
          <a:solidFill>
            <a:srgbClr val="AFC1DE">
              <a:alpha val="65000"/>
            </a:srgbClr>
          </a:solidFill>
          <a:ln w="12700">
            <a:solidFill>
              <a:srgbClr val="AFC1DE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411480"/>
            <a:ext cx="10789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A4A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系统总体技术架构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12648" y="932688"/>
            <a:ext cx="10515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F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分层解耦，数据驱动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11155680" y="384048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FC1D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94360" y="1243584"/>
            <a:ext cx="10972800" cy="0"/>
          </a:xfrm>
          <a:prstGeom prst="line">
            <a:avLst/>
          </a:prstGeom>
          <a:noFill/>
          <a:ln w="12700">
            <a:solidFill>
              <a:srgbClr val="AFC1D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1645920"/>
            <a:ext cx="10972800" cy="448056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AFC1DE">
                <a:alpha val="8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14400" y="1938528"/>
            <a:ext cx="5532120" cy="566928"/>
          </a:xfrm>
          <a:prstGeom prst="roundRect">
            <a:avLst>
              <a:gd name="adj" fmla="val 12903"/>
            </a:avLst>
          </a:prstGeom>
          <a:solidFill>
            <a:srgbClr val="DDE7F5"/>
          </a:solidFill>
          <a:ln w="12700">
            <a:solidFill>
              <a:srgbClr val="AFC1DE">
                <a:alpha val="65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97280" y="2084832"/>
            <a:ext cx="5212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A4A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表现层：PyQt5构建的GUI桌面应用，负责交互与展示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914400" y="2651760"/>
            <a:ext cx="553212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AFC1DE">
                <a:alpha val="65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97280" y="2798064"/>
            <a:ext cx="5212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A4A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业务逻辑层：爬虫调度、数据清洗、推荐算法、用户偏好管理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914400" y="3364992"/>
            <a:ext cx="5532120" cy="566928"/>
          </a:xfrm>
          <a:prstGeom prst="roundRect">
            <a:avLst>
              <a:gd name="adj" fmla="val 12903"/>
            </a:avLst>
          </a:prstGeom>
          <a:solidFill>
            <a:srgbClr val="DDE7F5"/>
          </a:solidFill>
          <a:ln w="12700">
            <a:solidFill>
              <a:srgbClr val="AFC1DE">
                <a:alpha val="65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97280" y="3511296"/>
            <a:ext cx="5212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A4A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数据获取层：双爬虫分别对接中国天气网API与小红书博文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914400" y="4078224"/>
            <a:ext cx="553212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AFC1DE">
                <a:alpha val="65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97280" y="4224528"/>
            <a:ext cx="5212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A4A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数据持久层：SQLite数据库存储天气快照、穿搭条目、用户历史记录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914400" y="4791456"/>
            <a:ext cx="5532120" cy="566928"/>
          </a:xfrm>
          <a:prstGeom prst="roundRect">
            <a:avLst>
              <a:gd name="adj" fmla="val 12903"/>
            </a:avLst>
          </a:prstGeom>
          <a:solidFill>
            <a:srgbClr val="DDE7F5"/>
          </a:solidFill>
          <a:ln w="12700">
            <a:solidFill>
              <a:srgbClr val="AFC1DE">
                <a:alpha val="65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97280" y="4937760"/>
            <a:ext cx="5212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A4A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开发环境：PyCharm + Python 3.9，采用多线程提升采集效率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812280" y="1965960"/>
            <a:ext cx="4526280" cy="1965960"/>
          </a:xfrm>
          <a:prstGeom prst="roundRect">
            <a:avLst>
              <a:gd name="adj" fmla="val 5581"/>
            </a:avLst>
          </a:prstGeom>
          <a:solidFill>
            <a:srgbClr val="FFFFFF">
              <a:alpha val="88000"/>
            </a:srgbClr>
          </a:solidFill>
          <a:ln w="12700">
            <a:solidFill>
              <a:srgbClr val="AFC1D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132320" y="2286000"/>
            <a:ext cx="502920" cy="502920"/>
          </a:xfrm>
          <a:prstGeom prst="ellipse">
            <a:avLst/>
          </a:prstGeom>
          <a:solidFill>
            <a:srgbClr val="DDE7F5"/>
          </a:solidFill>
          <a:ln w="12700">
            <a:solidFill>
              <a:srgbClr val="AFC1DE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772400" y="2377440"/>
            <a:ext cx="3246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A4A66"/>
                </a:solidFill>
              </a:rPr>
              <a:t>图片 / 图标 / 截图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132320" y="2880360"/>
            <a:ext cx="3886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F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一张分层架构图，从上到下为表现层、业务逻辑层、数据获取层、数据持久层，各层用箭头连接，标注关键技术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7132320" y="3611880"/>
            <a:ext cx="3886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F6B7A"/>
                </a:solidFill>
              </a:rPr>
              <a:t>建议关键词：架构图 / 分层 / PyQt5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6876288" y="1874520"/>
            <a:ext cx="4754880" cy="2971800"/>
          </a:xfrm>
          <a:prstGeom prst="roundRect">
            <a:avLst>
              <a:gd name="adj" fmla="val 3077"/>
            </a:avLst>
          </a:prstGeom>
          <a:solidFill>
            <a:srgbClr val="FFFFFF">
              <a:alpha val="90000"/>
            </a:srgbClr>
          </a:solidFill>
          <a:ln w="12700">
            <a:solidFill>
              <a:srgbClr val="AFC1DE">
                <a:alpha val="85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086600" y="2103120"/>
            <a:ext cx="914400" cy="2103120"/>
          </a:xfrm>
          <a:prstGeom prst="roundRect">
            <a:avLst>
              <a:gd name="adj" fmla="val 8000"/>
            </a:avLst>
          </a:prstGeom>
          <a:solidFill>
            <a:srgbClr val="DDE7F5"/>
          </a:solidFill>
          <a:ln w="12700">
            <a:solidFill>
              <a:srgbClr val="AFC1DE">
                <a:alpha val="10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183880" y="1828800"/>
            <a:ext cx="914400" cy="2377440"/>
          </a:xfrm>
          <a:prstGeom prst="roundRect">
            <a:avLst>
              <a:gd name="adj" fmla="val 8000"/>
            </a:avLst>
          </a:prstGeom>
          <a:solidFill>
            <a:srgbClr val="AFC1DE"/>
          </a:solidFill>
          <a:ln w="12700">
            <a:solidFill>
              <a:srgbClr val="AFC1DE">
                <a:alpha val="10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281160" y="2240280"/>
            <a:ext cx="914400" cy="1965960"/>
          </a:xfrm>
          <a:prstGeom prst="roundRect">
            <a:avLst>
              <a:gd name="adj" fmla="val 8000"/>
            </a:avLst>
          </a:prstGeom>
          <a:solidFill>
            <a:srgbClr val="DDE7F5"/>
          </a:solidFill>
          <a:ln w="12700">
            <a:solidFill>
              <a:srgbClr val="AFC1DE">
                <a:alpha val="10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0378440" y="2011680"/>
            <a:ext cx="914400" cy="2194560"/>
          </a:xfrm>
          <a:prstGeom prst="roundRect">
            <a:avLst>
              <a:gd name="adj" fmla="val 8000"/>
            </a:avLst>
          </a:prstGeom>
          <a:solidFill>
            <a:srgbClr val="AFC1DE"/>
          </a:solidFill>
          <a:ln w="12700">
            <a:solidFill>
              <a:srgbClr val="AFC1DE">
                <a:alpha val="10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543800" y="4590288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3A4A66"/>
                </a:solidFill>
              </a:rPr>
              <a:t>流程示意</a:t>
            </a:r>
            <a:endParaRPr lang="en-US" sz="1350" dirty="0"/>
          </a:p>
        </p:txBody>
      </p:sp>
      <p:sp>
        <p:nvSpPr>
          <p:cNvPr id="30" name="Text 28"/>
          <p:cNvSpPr/>
          <p:nvPr/>
        </p:nvSpPr>
        <p:spPr>
          <a:xfrm>
            <a:off x="7132320" y="4892040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F6B7A"/>
                </a:solidFill>
              </a:rPr>
              <a:t>关键词：架构图 / 分层 / PyQt5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EF3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201400" y="0"/>
            <a:ext cx="137160" cy="6858000"/>
          </a:xfrm>
          <a:prstGeom prst="rect">
            <a:avLst/>
          </a:prstGeom>
          <a:solidFill>
            <a:srgbClr val="DDE7F5"/>
          </a:solidFill>
          <a:ln w="12700">
            <a:solidFill>
              <a:srgbClr val="DDE7F5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972800" y="5943600"/>
            <a:ext cx="731520" cy="731520"/>
          </a:xfrm>
          <a:prstGeom prst="ellipse">
            <a:avLst/>
          </a:prstGeom>
          <a:solidFill>
            <a:srgbClr val="AFC1DE">
              <a:alpha val="65000"/>
            </a:srgbClr>
          </a:solidFill>
          <a:ln w="12700">
            <a:solidFill>
              <a:srgbClr val="AFC1DE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411480"/>
            <a:ext cx="10789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A4A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双通道数据获取流程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12648" y="932688"/>
            <a:ext cx="10515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F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天气数据 + 穿搭灵感 双引擎驱动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11155680" y="384048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FC1D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94360" y="1243584"/>
            <a:ext cx="10972800" cy="0"/>
          </a:xfrm>
          <a:prstGeom prst="line">
            <a:avLst/>
          </a:prstGeom>
          <a:noFill/>
          <a:ln w="12700">
            <a:solidFill>
              <a:srgbClr val="AFC1D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1645920"/>
            <a:ext cx="10972800" cy="448056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AFC1DE">
                <a:alpha val="8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97280" y="3657600"/>
            <a:ext cx="8686800" cy="0"/>
          </a:xfrm>
          <a:prstGeom prst="line">
            <a:avLst/>
          </a:prstGeom>
          <a:noFill/>
          <a:ln w="12700">
            <a:solidFill>
              <a:srgbClr val="AFC1D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05840" y="3456432"/>
            <a:ext cx="384048" cy="384048"/>
          </a:xfrm>
          <a:prstGeom prst="ellipse">
            <a:avLst/>
          </a:prstGeom>
          <a:solidFill>
            <a:srgbClr val="AFC1DE"/>
          </a:solidFill>
          <a:ln w="12700">
            <a:solidFill>
              <a:srgbClr val="AFC1DE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0080" y="2011680"/>
            <a:ext cx="10515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AFC1DE">
                <a:alpha val="7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49808" y="2231136"/>
            <a:ext cx="822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20" dirty="0">
                <a:solidFill>
                  <a:srgbClr val="3A4A66"/>
                </a:solidFill>
              </a:rPr>
              <a:t>通道一：请求中国天气网市级API，解析温度、湿度、风力、天气现象</a:t>
            </a:r>
            <a:endParaRPr lang="en-US" sz="1120" dirty="0"/>
          </a:p>
        </p:txBody>
      </p:sp>
      <p:sp>
        <p:nvSpPr>
          <p:cNvPr id="13" name="Shape 11"/>
          <p:cNvSpPr/>
          <p:nvPr/>
        </p:nvSpPr>
        <p:spPr>
          <a:xfrm>
            <a:off x="1097280" y="3657600"/>
            <a:ext cx="8686800" cy="0"/>
          </a:xfrm>
          <a:prstGeom prst="line">
            <a:avLst/>
          </a:prstGeom>
          <a:noFill/>
          <a:ln w="12700">
            <a:solidFill>
              <a:srgbClr val="AFC1D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108960" y="3456432"/>
            <a:ext cx="384048" cy="384048"/>
          </a:xfrm>
          <a:prstGeom prst="ellipse">
            <a:avLst/>
          </a:prstGeom>
          <a:solidFill>
            <a:srgbClr val="DDE7F5"/>
          </a:solidFill>
          <a:ln w="12700">
            <a:solidFill>
              <a:srgbClr val="AFC1DE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743200" y="2011680"/>
            <a:ext cx="10515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AFC1DE">
                <a:alpha val="7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852928" y="2231136"/>
            <a:ext cx="822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20" dirty="0">
                <a:solidFill>
                  <a:srgbClr val="3A4A66"/>
                </a:solidFill>
              </a:rPr>
              <a:t>通道二：模拟浏览器访问小红书搜索页，根据关键词“今日穿搭+城市”抓取热门笔记</a:t>
            </a:r>
            <a:endParaRPr lang="en-US" sz="1120" dirty="0"/>
          </a:p>
        </p:txBody>
      </p:sp>
      <p:sp>
        <p:nvSpPr>
          <p:cNvPr id="17" name="Shape 15"/>
          <p:cNvSpPr/>
          <p:nvPr/>
        </p:nvSpPr>
        <p:spPr>
          <a:xfrm>
            <a:off x="1097280" y="3657600"/>
            <a:ext cx="8686800" cy="0"/>
          </a:xfrm>
          <a:prstGeom prst="line">
            <a:avLst/>
          </a:prstGeom>
          <a:noFill/>
          <a:ln w="12700">
            <a:solidFill>
              <a:srgbClr val="AFC1D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212080" y="3456432"/>
            <a:ext cx="384048" cy="384048"/>
          </a:xfrm>
          <a:prstGeom prst="ellipse">
            <a:avLst/>
          </a:prstGeom>
          <a:solidFill>
            <a:srgbClr val="AFC1DE"/>
          </a:solidFill>
          <a:ln w="12700">
            <a:solidFill>
              <a:srgbClr val="AFC1DE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846320" y="2011680"/>
            <a:ext cx="10515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AFC1DE">
                <a:alpha val="70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56048" y="2231136"/>
            <a:ext cx="822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20" dirty="0">
                <a:solidFill>
                  <a:srgbClr val="3A4A66"/>
                </a:solidFill>
              </a:rPr>
              <a:t>反爬策略：随机UA、请求延时、IP代理池轮换，保证稳定采集</a:t>
            </a:r>
            <a:endParaRPr lang="en-US" sz="1120" dirty="0"/>
          </a:p>
        </p:txBody>
      </p:sp>
      <p:sp>
        <p:nvSpPr>
          <p:cNvPr id="21" name="Shape 19"/>
          <p:cNvSpPr/>
          <p:nvPr/>
        </p:nvSpPr>
        <p:spPr>
          <a:xfrm>
            <a:off x="1097280" y="3657600"/>
            <a:ext cx="8686800" cy="0"/>
          </a:xfrm>
          <a:prstGeom prst="line">
            <a:avLst/>
          </a:prstGeom>
          <a:noFill/>
          <a:ln w="12700">
            <a:solidFill>
              <a:srgbClr val="AFC1DE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315200" y="3456432"/>
            <a:ext cx="384048" cy="384048"/>
          </a:xfrm>
          <a:prstGeom prst="ellipse">
            <a:avLst/>
          </a:prstGeom>
          <a:solidFill>
            <a:srgbClr val="DDE7F5"/>
          </a:solidFill>
          <a:ln w="12700">
            <a:solidFill>
              <a:srgbClr val="AFC1DE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949440" y="2011680"/>
            <a:ext cx="10515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AFC1DE">
                <a:alpha val="70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059168" y="2231136"/>
            <a:ext cx="822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20" dirty="0">
                <a:solidFill>
                  <a:srgbClr val="3A4A66"/>
                </a:solidFill>
              </a:rPr>
              <a:t>数据清洗：去除无效字段、统一格式、提取服装品类与关键词</a:t>
            </a:r>
            <a:endParaRPr lang="en-US" sz="1120" dirty="0"/>
          </a:p>
        </p:txBody>
      </p:sp>
      <p:sp>
        <p:nvSpPr>
          <p:cNvPr id="25" name="Shape 23"/>
          <p:cNvSpPr/>
          <p:nvPr/>
        </p:nvSpPr>
        <p:spPr>
          <a:xfrm>
            <a:off x="1097280" y="3657600"/>
            <a:ext cx="8686800" cy="0"/>
          </a:xfrm>
          <a:prstGeom prst="line">
            <a:avLst/>
          </a:prstGeom>
          <a:noFill/>
          <a:ln w="12700">
            <a:solidFill>
              <a:srgbClr val="AFC1DE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418320" y="3456432"/>
            <a:ext cx="384048" cy="384048"/>
          </a:xfrm>
          <a:prstGeom prst="ellipse">
            <a:avLst/>
          </a:prstGeom>
          <a:solidFill>
            <a:srgbClr val="AFC1DE"/>
          </a:solidFill>
          <a:ln w="12700">
            <a:solidFill>
              <a:srgbClr val="AFC1DE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052560" y="2011680"/>
            <a:ext cx="10515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AFC1DE">
                <a:alpha val="70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162288" y="2231136"/>
            <a:ext cx="822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20" dirty="0">
                <a:solidFill>
                  <a:srgbClr val="3A4A66"/>
                </a:solidFill>
              </a:rPr>
              <a:t>任务调度：每30分钟增量更新，确保推荐时效性</a:t>
            </a:r>
            <a:endParaRPr lang="en-US" sz="1120" dirty="0"/>
          </a:p>
        </p:txBody>
      </p:sp>
      <p:sp>
        <p:nvSpPr>
          <p:cNvPr id="29" name="Shape 27"/>
          <p:cNvSpPr/>
          <p:nvPr/>
        </p:nvSpPr>
        <p:spPr>
          <a:xfrm>
            <a:off x="8183880" y="1828800"/>
            <a:ext cx="3337560" cy="1463040"/>
          </a:xfrm>
          <a:prstGeom prst="roundRect">
            <a:avLst>
              <a:gd name="adj" fmla="val 7500"/>
            </a:avLst>
          </a:prstGeom>
          <a:solidFill>
            <a:srgbClr val="FFFFFF">
              <a:alpha val="88000"/>
            </a:srgbClr>
          </a:solidFill>
          <a:ln w="12700">
            <a:solidFill>
              <a:srgbClr val="AFC1DE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503920" y="2148840"/>
            <a:ext cx="502920" cy="502920"/>
          </a:xfrm>
          <a:prstGeom prst="ellipse">
            <a:avLst/>
          </a:prstGeom>
          <a:solidFill>
            <a:srgbClr val="DDE7F5"/>
          </a:solidFill>
          <a:ln w="12700">
            <a:solidFill>
              <a:srgbClr val="AFC1DE">
                <a:alpha val="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144000" y="2240280"/>
            <a:ext cx="2057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A4A66"/>
                </a:solidFill>
              </a:rPr>
              <a:t>图片 / 图标 / 截图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8503920" y="2743200"/>
            <a:ext cx="2697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F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横向流程箭头图，左侧天气云图标连接天气网API，右侧小红书图标连接社区内容，中间汇聚至数据库，标注清洗与调度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503920" y="2971800"/>
            <a:ext cx="2697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F6B7A"/>
                </a:solidFill>
              </a:rPr>
              <a:t>建议关键词：双通道 / 中国天气网 / 小红书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8183880" y="3474720"/>
            <a:ext cx="3291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A4A66"/>
                </a:solidFill>
              </a:rPr>
              <a:t>时间轴 / 流程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6876288" y="1874520"/>
            <a:ext cx="4754880" cy="2971800"/>
          </a:xfrm>
          <a:prstGeom prst="roundRect">
            <a:avLst>
              <a:gd name="adj" fmla="val 3077"/>
            </a:avLst>
          </a:prstGeom>
          <a:solidFill>
            <a:srgbClr val="FFFFFF">
              <a:alpha val="90000"/>
            </a:srgbClr>
          </a:solidFill>
          <a:ln w="12700">
            <a:solidFill>
              <a:srgbClr val="AFC1DE">
                <a:alpha val="85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086600" y="2103120"/>
            <a:ext cx="914400" cy="2103120"/>
          </a:xfrm>
          <a:prstGeom prst="roundRect">
            <a:avLst>
              <a:gd name="adj" fmla="val 8000"/>
            </a:avLst>
          </a:prstGeom>
          <a:solidFill>
            <a:srgbClr val="DDE7F5"/>
          </a:solidFill>
          <a:ln w="12700">
            <a:solidFill>
              <a:srgbClr val="AFC1DE">
                <a:alpha val="10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183880" y="1828800"/>
            <a:ext cx="914400" cy="2377440"/>
          </a:xfrm>
          <a:prstGeom prst="roundRect">
            <a:avLst>
              <a:gd name="adj" fmla="val 8000"/>
            </a:avLst>
          </a:prstGeom>
          <a:solidFill>
            <a:srgbClr val="AFC1DE"/>
          </a:solidFill>
          <a:ln w="12700">
            <a:solidFill>
              <a:srgbClr val="AFC1DE">
                <a:alpha val="10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9281160" y="2240280"/>
            <a:ext cx="914400" cy="1965960"/>
          </a:xfrm>
          <a:prstGeom prst="roundRect">
            <a:avLst>
              <a:gd name="adj" fmla="val 8000"/>
            </a:avLst>
          </a:prstGeom>
          <a:solidFill>
            <a:srgbClr val="DDE7F5"/>
          </a:solidFill>
          <a:ln w="12700">
            <a:solidFill>
              <a:srgbClr val="AFC1DE">
                <a:alpha val="10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0378440" y="2011680"/>
            <a:ext cx="914400" cy="2194560"/>
          </a:xfrm>
          <a:prstGeom prst="roundRect">
            <a:avLst>
              <a:gd name="adj" fmla="val 8000"/>
            </a:avLst>
          </a:prstGeom>
          <a:solidFill>
            <a:srgbClr val="AFC1DE"/>
          </a:solidFill>
          <a:ln w="12700">
            <a:solidFill>
              <a:srgbClr val="AFC1DE">
                <a:alpha val="1000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543800" y="4590288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3A4A66"/>
                </a:solidFill>
              </a:rPr>
              <a:t>图片占位区</a:t>
            </a:r>
            <a:endParaRPr lang="en-US" sz="1350" dirty="0"/>
          </a:p>
        </p:txBody>
      </p:sp>
      <p:sp>
        <p:nvSpPr>
          <p:cNvPr id="41" name="Text 39"/>
          <p:cNvSpPr/>
          <p:nvPr/>
        </p:nvSpPr>
        <p:spPr>
          <a:xfrm>
            <a:off x="7132320" y="4892040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F6B7A"/>
                </a:solidFill>
              </a:rPr>
              <a:t>关键词：双通道 / 中国天气网 / 小红书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EF3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201400" y="0"/>
            <a:ext cx="137160" cy="6858000"/>
          </a:xfrm>
          <a:prstGeom prst="rect">
            <a:avLst/>
          </a:prstGeom>
          <a:solidFill>
            <a:srgbClr val="DDE7F5"/>
          </a:solidFill>
          <a:ln w="12700">
            <a:solidFill>
              <a:srgbClr val="DDE7F5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972800" y="5943600"/>
            <a:ext cx="731520" cy="731520"/>
          </a:xfrm>
          <a:prstGeom prst="ellipse">
            <a:avLst/>
          </a:prstGeom>
          <a:solidFill>
            <a:srgbClr val="AFC1DE">
              <a:alpha val="65000"/>
            </a:srgbClr>
          </a:solidFill>
          <a:ln w="12700">
            <a:solidFill>
              <a:srgbClr val="AFC1DE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411480"/>
            <a:ext cx="10789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A4A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核心功能模块设计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12648" y="932688"/>
            <a:ext cx="10515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F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五大功能矩阵，覆盖全场景需求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11155680" y="384048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FC1D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94360" y="1243584"/>
            <a:ext cx="10972800" cy="0"/>
          </a:xfrm>
          <a:prstGeom prst="line">
            <a:avLst/>
          </a:prstGeom>
          <a:noFill/>
          <a:ln w="12700">
            <a:solidFill>
              <a:srgbClr val="AFC1D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1645920"/>
            <a:ext cx="10972800" cy="448056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AFC1DE">
                <a:alpha val="8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68680" y="1920240"/>
            <a:ext cx="4800600" cy="960120"/>
          </a:xfrm>
          <a:prstGeom prst="roundRect">
            <a:avLst>
              <a:gd name="adj" fmla="val 7619"/>
            </a:avLst>
          </a:prstGeom>
          <a:solidFill>
            <a:srgbClr val="DDE7F5"/>
          </a:solidFill>
          <a:ln w="12700">
            <a:solidFill>
              <a:srgbClr val="AFC1DE">
                <a:alpha val="7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51560" y="2139696"/>
            <a:ext cx="4389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20" dirty="0">
                <a:solidFill>
                  <a:srgbClr val="3A4A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实时天气看板：显示当前位置天气、温度、空气质量及体感建议</a:t>
            </a:r>
            <a:endParaRPr lang="en-US" sz="1220" dirty="0"/>
          </a:p>
        </p:txBody>
      </p:sp>
      <p:sp>
        <p:nvSpPr>
          <p:cNvPr id="11" name="Shape 9"/>
          <p:cNvSpPr/>
          <p:nvPr/>
        </p:nvSpPr>
        <p:spPr>
          <a:xfrm>
            <a:off x="6217920" y="1920240"/>
            <a:ext cx="480060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AFC1DE">
                <a:alpha val="7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0" y="2139696"/>
            <a:ext cx="4389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20" dirty="0">
                <a:solidFill>
                  <a:srgbClr val="3A4A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智能穿搭推荐：根据温度区间和天气类型匹配套装，如小雨推荐防水风衣+短靴</a:t>
            </a:r>
            <a:endParaRPr lang="en-US" sz="1220" dirty="0"/>
          </a:p>
        </p:txBody>
      </p:sp>
      <p:sp>
        <p:nvSpPr>
          <p:cNvPr id="13" name="Shape 11"/>
          <p:cNvSpPr/>
          <p:nvPr/>
        </p:nvSpPr>
        <p:spPr>
          <a:xfrm>
            <a:off x="868680" y="3154680"/>
            <a:ext cx="4800600" cy="960120"/>
          </a:xfrm>
          <a:prstGeom prst="roundRect">
            <a:avLst>
              <a:gd name="adj" fmla="val 7619"/>
            </a:avLst>
          </a:prstGeom>
          <a:solidFill>
            <a:srgbClr val="DDE7F5"/>
          </a:solidFill>
          <a:ln w="12700">
            <a:solidFill>
              <a:srgbClr val="AFC1DE">
                <a:alpha val="7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51560" y="3374136"/>
            <a:ext cx="4389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20" dirty="0">
                <a:solidFill>
                  <a:srgbClr val="3A4A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风格偏好选择：支持“通勤”“休闲”“运动”多场景切换</a:t>
            </a:r>
            <a:endParaRPr lang="en-US" sz="1220" dirty="0"/>
          </a:p>
        </p:txBody>
      </p:sp>
      <p:sp>
        <p:nvSpPr>
          <p:cNvPr id="15" name="Shape 13"/>
          <p:cNvSpPr/>
          <p:nvPr/>
        </p:nvSpPr>
        <p:spPr>
          <a:xfrm>
            <a:off x="6217920" y="3154680"/>
            <a:ext cx="480060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AFC1DE">
                <a:alpha val="7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0" y="3374136"/>
            <a:ext cx="4389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20" dirty="0">
                <a:solidFill>
                  <a:srgbClr val="3A4A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历史记录查询：保存每日推荐与用户反馈，支持回溯</a:t>
            </a:r>
            <a:endParaRPr lang="en-US" sz="1220" dirty="0"/>
          </a:p>
        </p:txBody>
      </p:sp>
      <p:sp>
        <p:nvSpPr>
          <p:cNvPr id="17" name="Shape 15"/>
          <p:cNvSpPr/>
          <p:nvPr/>
        </p:nvSpPr>
        <p:spPr>
          <a:xfrm>
            <a:off x="6876288" y="1874520"/>
            <a:ext cx="4754880" cy="2971800"/>
          </a:xfrm>
          <a:prstGeom prst="roundRect">
            <a:avLst>
              <a:gd name="adj" fmla="val 3077"/>
            </a:avLst>
          </a:prstGeom>
          <a:solidFill>
            <a:srgbClr val="FFFFFF">
              <a:alpha val="90000"/>
            </a:srgbClr>
          </a:solidFill>
          <a:ln w="12700">
            <a:solidFill>
              <a:srgbClr val="AFC1DE">
                <a:alpha val="85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086600" y="2103120"/>
            <a:ext cx="914400" cy="2103120"/>
          </a:xfrm>
          <a:prstGeom prst="roundRect">
            <a:avLst>
              <a:gd name="adj" fmla="val 8000"/>
            </a:avLst>
          </a:prstGeom>
          <a:solidFill>
            <a:srgbClr val="DDE7F5"/>
          </a:solidFill>
          <a:ln w="12700">
            <a:solidFill>
              <a:srgbClr val="AFC1DE">
                <a:alpha val="1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183880" y="1828800"/>
            <a:ext cx="914400" cy="2377440"/>
          </a:xfrm>
          <a:prstGeom prst="roundRect">
            <a:avLst>
              <a:gd name="adj" fmla="val 8000"/>
            </a:avLst>
          </a:prstGeom>
          <a:solidFill>
            <a:srgbClr val="AFC1DE"/>
          </a:solidFill>
          <a:ln w="12700">
            <a:solidFill>
              <a:srgbClr val="AFC1DE">
                <a:alpha val="1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281160" y="2240280"/>
            <a:ext cx="914400" cy="1965960"/>
          </a:xfrm>
          <a:prstGeom prst="roundRect">
            <a:avLst>
              <a:gd name="adj" fmla="val 8000"/>
            </a:avLst>
          </a:prstGeom>
          <a:solidFill>
            <a:srgbClr val="DDE7F5"/>
          </a:solidFill>
          <a:ln w="12700">
            <a:solidFill>
              <a:srgbClr val="AFC1DE">
                <a:alpha val="1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378440" y="2011680"/>
            <a:ext cx="914400" cy="2194560"/>
          </a:xfrm>
          <a:prstGeom prst="roundRect">
            <a:avLst>
              <a:gd name="adj" fmla="val 8000"/>
            </a:avLst>
          </a:prstGeom>
          <a:solidFill>
            <a:srgbClr val="AFC1DE"/>
          </a:solidFill>
          <a:ln w="12700">
            <a:solidFill>
              <a:srgbClr val="AFC1DE">
                <a:alpha val="10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543800" y="4590288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3A4A66"/>
                </a:solidFill>
              </a:rPr>
              <a:t>图片占位区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7132320" y="4892040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F6B7A"/>
                </a:solidFill>
              </a:rPr>
              <a:t>关键词：功能模块 / 卡片 / 看板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EF3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201400" y="0"/>
            <a:ext cx="137160" cy="6858000"/>
          </a:xfrm>
          <a:prstGeom prst="rect">
            <a:avLst/>
          </a:prstGeom>
          <a:solidFill>
            <a:srgbClr val="DDE7F5"/>
          </a:solidFill>
          <a:ln w="12700">
            <a:solidFill>
              <a:srgbClr val="DDE7F5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972800" y="5943600"/>
            <a:ext cx="731520" cy="731520"/>
          </a:xfrm>
          <a:prstGeom prst="ellipse">
            <a:avLst/>
          </a:prstGeom>
          <a:solidFill>
            <a:srgbClr val="AFC1DE">
              <a:alpha val="65000"/>
            </a:srgbClr>
          </a:solidFill>
          <a:ln w="12700">
            <a:solidFill>
              <a:srgbClr val="AFC1DE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411480"/>
            <a:ext cx="10789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A4A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图形用户界面交互设计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12648" y="932688"/>
            <a:ext cx="10515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F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直观、高效、科技感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11155680" y="384048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FC1D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94360" y="1243584"/>
            <a:ext cx="10972800" cy="0"/>
          </a:xfrm>
          <a:prstGeom prst="line">
            <a:avLst/>
          </a:prstGeom>
          <a:noFill/>
          <a:ln w="12700">
            <a:solidFill>
              <a:srgbClr val="AFC1D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1645920"/>
            <a:ext cx="10972800" cy="448056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AFC1DE">
                <a:alpha val="8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14400" y="1938528"/>
            <a:ext cx="5532120" cy="566928"/>
          </a:xfrm>
          <a:prstGeom prst="roundRect">
            <a:avLst>
              <a:gd name="adj" fmla="val 12903"/>
            </a:avLst>
          </a:prstGeom>
          <a:solidFill>
            <a:srgbClr val="DDE7F5"/>
          </a:solidFill>
          <a:ln w="12700">
            <a:solidFill>
              <a:srgbClr val="AFC1DE">
                <a:alpha val="65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97280" y="2084832"/>
            <a:ext cx="5212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A4A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主界面采用左面板信息展示+右面板搭配展示的两栏布局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914400" y="2651760"/>
            <a:ext cx="553212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AFC1DE">
                <a:alpha val="65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97280" y="2798064"/>
            <a:ext cx="5212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A4A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顶部导航栏包含城市选择器、刷新按钮和省电模式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914400" y="3364992"/>
            <a:ext cx="5532120" cy="566928"/>
          </a:xfrm>
          <a:prstGeom prst="roundRect">
            <a:avLst>
              <a:gd name="adj" fmla="val 12903"/>
            </a:avLst>
          </a:prstGeom>
          <a:solidFill>
            <a:srgbClr val="DDE7F5"/>
          </a:solidFill>
          <a:ln w="12700">
            <a:solidFill>
              <a:srgbClr val="AFC1DE">
                <a:alpha val="65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97280" y="3511296"/>
            <a:ext cx="5212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A4A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中心穿搭卡片以轮播形式展示三套备选方案，每套附温度匹配指数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914400" y="4078224"/>
            <a:ext cx="553212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AFC1DE">
                <a:alpha val="65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97280" y="4224528"/>
            <a:ext cx="5212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A4A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鼠标悬停可查看穿搭细节，点击直达原小红书笔记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914400" y="4791456"/>
            <a:ext cx="5532120" cy="566928"/>
          </a:xfrm>
          <a:prstGeom prst="roundRect">
            <a:avLst>
              <a:gd name="adj" fmla="val 12903"/>
            </a:avLst>
          </a:prstGeom>
          <a:solidFill>
            <a:srgbClr val="DDE7F5"/>
          </a:solidFill>
          <a:ln w="12700">
            <a:solidFill>
              <a:srgbClr val="AFC1DE">
                <a:alpha val="65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97280" y="4937760"/>
            <a:ext cx="5212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A4A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暗色模式适配，降低长时间使用疲劳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812280" y="1965960"/>
            <a:ext cx="4526280" cy="1965960"/>
          </a:xfrm>
          <a:prstGeom prst="roundRect">
            <a:avLst>
              <a:gd name="adj" fmla="val 5581"/>
            </a:avLst>
          </a:prstGeom>
          <a:solidFill>
            <a:srgbClr val="FFFFFF">
              <a:alpha val="88000"/>
            </a:srgbClr>
          </a:solidFill>
          <a:ln w="12700">
            <a:solidFill>
              <a:srgbClr val="AFC1D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132320" y="2286000"/>
            <a:ext cx="502920" cy="502920"/>
          </a:xfrm>
          <a:prstGeom prst="ellipse">
            <a:avLst/>
          </a:prstGeom>
          <a:solidFill>
            <a:srgbClr val="DDE7F5"/>
          </a:solidFill>
          <a:ln w="12700">
            <a:solidFill>
              <a:srgbClr val="AFC1DE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772400" y="2377440"/>
            <a:ext cx="3246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A4A66"/>
                </a:solidFill>
              </a:rPr>
              <a:t>图片 / 图标 / 截图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132320" y="2880360"/>
            <a:ext cx="3886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F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两栏界面截图风格图，左侧为天气信息区，右侧为三张穿搭卡片轮播，顶部导航栏和蓝色配色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7132320" y="3611880"/>
            <a:ext cx="3886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F6B7A"/>
                </a:solidFill>
              </a:rPr>
              <a:t>建议关键词：GUI / PyQt5 / 两栏布局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6876288" y="1874520"/>
            <a:ext cx="4754880" cy="2971800"/>
          </a:xfrm>
          <a:prstGeom prst="roundRect">
            <a:avLst>
              <a:gd name="adj" fmla="val 3077"/>
            </a:avLst>
          </a:prstGeom>
          <a:solidFill>
            <a:srgbClr val="FFFFFF">
              <a:alpha val="90000"/>
            </a:srgbClr>
          </a:solidFill>
          <a:ln w="12700">
            <a:solidFill>
              <a:srgbClr val="AFC1DE">
                <a:alpha val="85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086600" y="2103120"/>
            <a:ext cx="914400" cy="2103120"/>
          </a:xfrm>
          <a:prstGeom prst="roundRect">
            <a:avLst>
              <a:gd name="adj" fmla="val 8000"/>
            </a:avLst>
          </a:prstGeom>
          <a:solidFill>
            <a:srgbClr val="DDE7F5"/>
          </a:solidFill>
          <a:ln w="12700">
            <a:solidFill>
              <a:srgbClr val="AFC1DE">
                <a:alpha val="10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183880" y="1828800"/>
            <a:ext cx="914400" cy="2377440"/>
          </a:xfrm>
          <a:prstGeom prst="roundRect">
            <a:avLst>
              <a:gd name="adj" fmla="val 8000"/>
            </a:avLst>
          </a:prstGeom>
          <a:solidFill>
            <a:srgbClr val="AFC1DE"/>
          </a:solidFill>
          <a:ln w="12700">
            <a:solidFill>
              <a:srgbClr val="AFC1DE">
                <a:alpha val="10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281160" y="2240280"/>
            <a:ext cx="914400" cy="1965960"/>
          </a:xfrm>
          <a:prstGeom prst="roundRect">
            <a:avLst>
              <a:gd name="adj" fmla="val 8000"/>
            </a:avLst>
          </a:prstGeom>
          <a:solidFill>
            <a:srgbClr val="DDE7F5"/>
          </a:solidFill>
          <a:ln w="12700">
            <a:solidFill>
              <a:srgbClr val="AFC1DE">
                <a:alpha val="10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0378440" y="2011680"/>
            <a:ext cx="914400" cy="2194560"/>
          </a:xfrm>
          <a:prstGeom prst="roundRect">
            <a:avLst>
              <a:gd name="adj" fmla="val 8000"/>
            </a:avLst>
          </a:prstGeom>
          <a:solidFill>
            <a:srgbClr val="AFC1DE"/>
          </a:solidFill>
          <a:ln w="12700">
            <a:solidFill>
              <a:srgbClr val="AFC1DE">
                <a:alpha val="10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543800" y="4590288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3A4A66"/>
                </a:solidFill>
              </a:rPr>
              <a:t>图片占位区</a:t>
            </a:r>
            <a:endParaRPr lang="en-US" sz="1350" dirty="0"/>
          </a:p>
        </p:txBody>
      </p:sp>
      <p:sp>
        <p:nvSpPr>
          <p:cNvPr id="30" name="Text 28"/>
          <p:cNvSpPr/>
          <p:nvPr/>
        </p:nvSpPr>
        <p:spPr>
          <a:xfrm>
            <a:off x="7132320" y="4892040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F6B7A"/>
                </a:solidFill>
              </a:rPr>
              <a:t>关键词：GUI / PyQt5 / 两栏布局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EF3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201400" y="0"/>
            <a:ext cx="137160" cy="6858000"/>
          </a:xfrm>
          <a:prstGeom prst="rect">
            <a:avLst/>
          </a:prstGeom>
          <a:solidFill>
            <a:srgbClr val="DDE7F5"/>
          </a:solidFill>
          <a:ln w="12700">
            <a:solidFill>
              <a:srgbClr val="DDE7F5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972800" y="5943600"/>
            <a:ext cx="731520" cy="731520"/>
          </a:xfrm>
          <a:prstGeom prst="ellipse">
            <a:avLst/>
          </a:prstGeom>
          <a:solidFill>
            <a:srgbClr val="AFC1DE">
              <a:alpha val="65000"/>
            </a:srgbClr>
          </a:solidFill>
          <a:ln w="12700">
            <a:solidFill>
              <a:srgbClr val="AFC1DE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411480"/>
            <a:ext cx="10789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A4A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数据库管理与存储设计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12648" y="932688"/>
            <a:ext cx="10515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F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轻量高效，支撑个性化服务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11155680" y="384048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FC1D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94360" y="1243584"/>
            <a:ext cx="10972800" cy="0"/>
          </a:xfrm>
          <a:prstGeom prst="line">
            <a:avLst/>
          </a:prstGeom>
          <a:noFill/>
          <a:ln w="12700">
            <a:solidFill>
              <a:srgbClr val="AFC1D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1645920"/>
            <a:ext cx="10972800" cy="448056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AFC1DE">
                <a:alpha val="8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14400" y="1938528"/>
            <a:ext cx="5532120" cy="566928"/>
          </a:xfrm>
          <a:prstGeom prst="roundRect">
            <a:avLst>
              <a:gd name="adj" fmla="val 12903"/>
            </a:avLst>
          </a:prstGeom>
          <a:solidFill>
            <a:srgbClr val="DDE7F5"/>
          </a:solidFill>
          <a:ln w="12700">
            <a:solidFill>
              <a:srgbClr val="AFC1DE">
                <a:alpha val="65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97280" y="2084832"/>
            <a:ext cx="5212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A4A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采用SQLite嵌入式数据库，零配置，适合单机应用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914400" y="2651760"/>
            <a:ext cx="553212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AFC1DE">
                <a:alpha val="65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97280" y="2798064"/>
            <a:ext cx="5212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A4A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三张核心表：weather_data（天气快照）、outfit_data（穿搭条目）、user_behavior（用户行为）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914400" y="3364992"/>
            <a:ext cx="5532120" cy="566928"/>
          </a:xfrm>
          <a:prstGeom prst="roundRect">
            <a:avLst>
              <a:gd name="adj" fmla="val 12903"/>
            </a:avLst>
          </a:prstGeom>
          <a:solidFill>
            <a:srgbClr val="DDE7F5"/>
          </a:solidFill>
          <a:ln w="12700">
            <a:solidFill>
              <a:srgbClr val="AFC1DE">
                <a:alpha val="65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97280" y="3511296"/>
            <a:ext cx="5212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A4A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穿搭条目字段包含：温度区间、风格标签、服装组合、图片链接、小红笔记原文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914400" y="4078224"/>
            <a:ext cx="553212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AFC1DE">
                <a:alpha val="65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97280" y="4224528"/>
            <a:ext cx="5212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A4A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用户行为表记录浏览、采纳反馈，用于后续推荐权重优化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914400" y="4791456"/>
            <a:ext cx="5532120" cy="566928"/>
          </a:xfrm>
          <a:prstGeom prst="roundRect">
            <a:avLst>
              <a:gd name="adj" fmla="val 12903"/>
            </a:avLst>
          </a:prstGeom>
          <a:solidFill>
            <a:srgbClr val="DDE7F5"/>
          </a:solidFill>
          <a:ln w="12700">
            <a:solidFill>
              <a:srgbClr val="AFC1DE">
                <a:alpha val="65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97280" y="4937760"/>
            <a:ext cx="5212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A4A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定期清理过期天气数据，控制数据库体积在10MB以内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812280" y="1965960"/>
            <a:ext cx="4526280" cy="1965960"/>
          </a:xfrm>
          <a:prstGeom prst="roundRect">
            <a:avLst>
              <a:gd name="adj" fmla="val 5581"/>
            </a:avLst>
          </a:prstGeom>
          <a:solidFill>
            <a:srgbClr val="FFFFFF">
              <a:alpha val="88000"/>
            </a:srgbClr>
          </a:solidFill>
          <a:ln w="12700">
            <a:solidFill>
              <a:srgbClr val="AFC1D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132320" y="2286000"/>
            <a:ext cx="502920" cy="502920"/>
          </a:xfrm>
          <a:prstGeom prst="ellipse">
            <a:avLst/>
          </a:prstGeom>
          <a:solidFill>
            <a:srgbClr val="DDE7F5"/>
          </a:solidFill>
          <a:ln w="12700">
            <a:solidFill>
              <a:srgbClr val="AFC1DE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772400" y="2377440"/>
            <a:ext cx="3246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A4A66"/>
                </a:solidFill>
              </a:rPr>
              <a:t>图片 / 图标 / 截图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132320" y="2880360"/>
            <a:ext cx="3886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F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ER图或表结构图，展示三张表的字段和关联关系，背景为蓝色渐变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7132320" y="3611880"/>
            <a:ext cx="3886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F6B7A"/>
                </a:solidFill>
              </a:rPr>
              <a:t>建议关键词：SQLite / ER图 / 表结构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6876288" y="1874520"/>
            <a:ext cx="4754880" cy="2971800"/>
          </a:xfrm>
          <a:prstGeom prst="roundRect">
            <a:avLst>
              <a:gd name="adj" fmla="val 3077"/>
            </a:avLst>
          </a:prstGeom>
          <a:solidFill>
            <a:srgbClr val="FFFFFF">
              <a:alpha val="90000"/>
            </a:srgbClr>
          </a:solidFill>
          <a:ln w="12700">
            <a:solidFill>
              <a:srgbClr val="AFC1DE">
                <a:alpha val="85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086600" y="2103120"/>
            <a:ext cx="914400" cy="2103120"/>
          </a:xfrm>
          <a:prstGeom prst="roundRect">
            <a:avLst>
              <a:gd name="adj" fmla="val 8000"/>
            </a:avLst>
          </a:prstGeom>
          <a:solidFill>
            <a:srgbClr val="DDE7F5"/>
          </a:solidFill>
          <a:ln w="12700">
            <a:solidFill>
              <a:srgbClr val="AFC1DE">
                <a:alpha val="10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183880" y="1828800"/>
            <a:ext cx="914400" cy="2377440"/>
          </a:xfrm>
          <a:prstGeom prst="roundRect">
            <a:avLst>
              <a:gd name="adj" fmla="val 8000"/>
            </a:avLst>
          </a:prstGeom>
          <a:solidFill>
            <a:srgbClr val="AFC1DE"/>
          </a:solidFill>
          <a:ln w="12700">
            <a:solidFill>
              <a:srgbClr val="AFC1DE">
                <a:alpha val="10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281160" y="2240280"/>
            <a:ext cx="914400" cy="1965960"/>
          </a:xfrm>
          <a:prstGeom prst="roundRect">
            <a:avLst>
              <a:gd name="adj" fmla="val 8000"/>
            </a:avLst>
          </a:prstGeom>
          <a:solidFill>
            <a:srgbClr val="DDE7F5"/>
          </a:solidFill>
          <a:ln w="12700">
            <a:solidFill>
              <a:srgbClr val="AFC1DE">
                <a:alpha val="10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0378440" y="2011680"/>
            <a:ext cx="914400" cy="2194560"/>
          </a:xfrm>
          <a:prstGeom prst="roundRect">
            <a:avLst>
              <a:gd name="adj" fmla="val 8000"/>
            </a:avLst>
          </a:prstGeom>
          <a:solidFill>
            <a:srgbClr val="AFC1DE"/>
          </a:solidFill>
          <a:ln w="12700">
            <a:solidFill>
              <a:srgbClr val="AFC1DE">
                <a:alpha val="10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543800" y="4590288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3A4A66"/>
                </a:solidFill>
              </a:rPr>
              <a:t>图片占位区</a:t>
            </a:r>
            <a:endParaRPr lang="en-US" sz="1350" dirty="0"/>
          </a:p>
        </p:txBody>
      </p:sp>
      <p:sp>
        <p:nvSpPr>
          <p:cNvPr id="30" name="Text 28"/>
          <p:cNvSpPr/>
          <p:nvPr/>
        </p:nvSpPr>
        <p:spPr>
          <a:xfrm>
            <a:off x="7132320" y="4892040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F6B7A"/>
                </a:solidFill>
              </a:rPr>
              <a:t>关键词：SQLite / ER图 / 表结构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EF3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201400" y="0"/>
            <a:ext cx="137160" cy="6858000"/>
          </a:xfrm>
          <a:prstGeom prst="rect">
            <a:avLst/>
          </a:prstGeom>
          <a:solidFill>
            <a:srgbClr val="DDE7F5"/>
          </a:solidFill>
          <a:ln w="12700">
            <a:solidFill>
              <a:srgbClr val="DDE7F5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972800" y="5943600"/>
            <a:ext cx="731520" cy="731520"/>
          </a:xfrm>
          <a:prstGeom prst="ellipse">
            <a:avLst/>
          </a:prstGeom>
          <a:solidFill>
            <a:srgbClr val="AFC1DE">
              <a:alpha val="65000"/>
            </a:srgbClr>
          </a:solidFill>
          <a:ln w="12700">
            <a:solidFill>
              <a:srgbClr val="AFC1DE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411480"/>
            <a:ext cx="10789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A4A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智能推荐决策流程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12648" y="932688"/>
            <a:ext cx="10515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F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从数据到建议的算法路径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11155680" y="384048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FC1D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94360" y="1243584"/>
            <a:ext cx="10972800" cy="0"/>
          </a:xfrm>
          <a:prstGeom prst="line">
            <a:avLst/>
          </a:prstGeom>
          <a:noFill/>
          <a:ln w="12700">
            <a:solidFill>
              <a:srgbClr val="AFC1D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1645920"/>
            <a:ext cx="10972800" cy="448056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AFC1DE">
                <a:alpha val="8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97280" y="3657600"/>
            <a:ext cx="8686800" cy="0"/>
          </a:xfrm>
          <a:prstGeom prst="line">
            <a:avLst/>
          </a:prstGeom>
          <a:noFill/>
          <a:ln w="12700">
            <a:solidFill>
              <a:srgbClr val="AFC1D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05840" y="3456432"/>
            <a:ext cx="384048" cy="384048"/>
          </a:xfrm>
          <a:prstGeom prst="ellipse">
            <a:avLst/>
          </a:prstGeom>
          <a:solidFill>
            <a:srgbClr val="AFC1DE"/>
          </a:solidFill>
          <a:ln w="12700">
            <a:solidFill>
              <a:srgbClr val="AFC1DE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0080" y="2011680"/>
            <a:ext cx="10515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AFC1DE">
                <a:alpha val="7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49808" y="2231136"/>
            <a:ext cx="822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20" dirty="0">
                <a:solidFill>
                  <a:srgbClr val="3A4A66"/>
                </a:solidFill>
              </a:rPr>
              <a:t>步骤1：获取实时天气数据，解析出温度区间和天气编码</a:t>
            </a:r>
            <a:endParaRPr lang="en-US" sz="1120" dirty="0"/>
          </a:p>
        </p:txBody>
      </p:sp>
      <p:sp>
        <p:nvSpPr>
          <p:cNvPr id="13" name="Shape 11"/>
          <p:cNvSpPr/>
          <p:nvPr/>
        </p:nvSpPr>
        <p:spPr>
          <a:xfrm>
            <a:off x="1097280" y="3657600"/>
            <a:ext cx="8686800" cy="0"/>
          </a:xfrm>
          <a:prstGeom prst="line">
            <a:avLst/>
          </a:prstGeom>
          <a:noFill/>
          <a:ln w="12700">
            <a:solidFill>
              <a:srgbClr val="AFC1D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108960" y="3456432"/>
            <a:ext cx="384048" cy="384048"/>
          </a:xfrm>
          <a:prstGeom prst="ellipse">
            <a:avLst/>
          </a:prstGeom>
          <a:solidFill>
            <a:srgbClr val="DDE7F5"/>
          </a:solidFill>
          <a:ln w="12700">
            <a:solidFill>
              <a:srgbClr val="AFC1DE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743200" y="2011680"/>
            <a:ext cx="10515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AFC1DE">
                <a:alpha val="7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852928" y="2231136"/>
            <a:ext cx="822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20" dirty="0">
                <a:solidFill>
                  <a:srgbClr val="3A4A66"/>
                </a:solidFill>
              </a:rPr>
              <a:t>步骤2：根据温度区间过滤当地适用的穿搭规则（如15-20度适宜薄外套+长裤）</a:t>
            </a:r>
            <a:endParaRPr lang="en-US" sz="1120" dirty="0"/>
          </a:p>
        </p:txBody>
      </p:sp>
      <p:sp>
        <p:nvSpPr>
          <p:cNvPr id="17" name="Shape 15"/>
          <p:cNvSpPr/>
          <p:nvPr/>
        </p:nvSpPr>
        <p:spPr>
          <a:xfrm>
            <a:off x="1097280" y="3657600"/>
            <a:ext cx="8686800" cy="0"/>
          </a:xfrm>
          <a:prstGeom prst="line">
            <a:avLst/>
          </a:prstGeom>
          <a:noFill/>
          <a:ln w="12700">
            <a:solidFill>
              <a:srgbClr val="AFC1D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212080" y="3456432"/>
            <a:ext cx="384048" cy="384048"/>
          </a:xfrm>
          <a:prstGeom prst="ellipse">
            <a:avLst/>
          </a:prstGeom>
          <a:solidFill>
            <a:srgbClr val="AFC1DE"/>
          </a:solidFill>
          <a:ln w="12700">
            <a:solidFill>
              <a:srgbClr val="AFC1DE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846320" y="2011680"/>
            <a:ext cx="10515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AFC1DE">
                <a:alpha val="70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56048" y="2231136"/>
            <a:ext cx="822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20" dirty="0">
                <a:solidFill>
                  <a:srgbClr val="3A4A66"/>
                </a:solidFill>
              </a:rPr>
              <a:t>步骤3：从数据库匹配符合温度区间且满足天气特殊要求（如下雨需防水）的穿搭条目</a:t>
            </a:r>
            <a:endParaRPr lang="en-US" sz="1120" dirty="0"/>
          </a:p>
        </p:txBody>
      </p:sp>
      <p:sp>
        <p:nvSpPr>
          <p:cNvPr id="21" name="Shape 19"/>
          <p:cNvSpPr/>
          <p:nvPr/>
        </p:nvSpPr>
        <p:spPr>
          <a:xfrm>
            <a:off x="1097280" y="3657600"/>
            <a:ext cx="8686800" cy="0"/>
          </a:xfrm>
          <a:prstGeom prst="line">
            <a:avLst/>
          </a:prstGeom>
          <a:noFill/>
          <a:ln w="12700">
            <a:solidFill>
              <a:srgbClr val="AFC1DE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315200" y="3456432"/>
            <a:ext cx="384048" cy="384048"/>
          </a:xfrm>
          <a:prstGeom prst="ellipse">
            <a:avLst/>
          </a:prstGeom>
          <a:solidFill>
            <a:srgbClr val="DDE7F5"/>
          </a:solidFill>
          <a:ln w="12700">
            <a:solidFill>
              <a:srgbClr val="AFC1DE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949440" y="2011680"/>
            <a:ext cx="10515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AFC1DE">
                <a:alpha val="70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059168" y="2231136"/>
            <a:ext cx="822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20" dirty="0">
                <a:solidFill>
                  <a:srgbClr val="3A4A66"/>
                </a:solidFill>
              </a:rPr>
              <a:t>步骤4：结合用户历史偏好风格加权排序，生成Top3推荐</a:t>
            </a:r>
            <a:endParaRPr lang="en-US" sz="1120" dirty="0"/>
          </a:p>
        </p:txBody>
      </p:sp>
      <p:sp>
        <p:nvSpPr>
          <p:cNvPr id="25" name="Shape 23"/>
          <p:cNvSpPr/>
          <p:nvPr/>
        </p:nvSpPr>
        <p:spPr>
          <a:xfrm>
            <a:off x="1097280" y="3657600"/>
            <a:ext cx="8686800" cy="0"/>
          </a:xfrm>
          <a:prstGeom prst="line">
            <a:avLst/>
          </a:prstGeom>
          <a:noFill/>
          <a:ln w="12700">
            <a:solidFill>
              <a:srgbClr val="AFC1DE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418320" y="3456432"/>
            <a:ext cx="384048" cy="384048"/>
          </a:xfrm>
          <a:prstGeom prst="ellipse">
            <a:avLst/>
          </a:prstGeom>
          <a:solidFill>
            <a:srgbClr val="AFC1DE"/>
          </a:solidFill>
          <a:ln w="12700">
            <a:solidFill>
              <a:srgbClr val="AFC1DE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052560" y="2011680"/>
            <a:ext cx="10515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AFC1DE">
                <a:alpha val="70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162288" y="2231136"/>
            <a:ext cx="822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20" dirty="0">
                <a:solidFill>
                  <a:srgbClr val="3A4A66"/>
                </a:solidFill>
              </a:rPr>
              <a:t>步骤5：呈现给用户，并记录展示与点击反馈</a:t>
            </a:r>
            <a:endParaRPr lang="en-US" sz="1120" dirty="0"/>
          </a:p>
        </p:txBody>
      </p:sp>
      <p:sp>
        <p:nvSpPr>
          <p:cNvPr id="29" name="Shape 27"/>
          <p:cNvSpPr/>
          <p:nvPr/>
        </p:nvSpPr>
        <p:spPr>
          <a:xfrm>
            <a:off x="8183880" y="1828800"/>
            <a:ext cx="3337560" cy="1463040"/>
          </a:xfrm>
          <a:prstGeom prst="roundRect">
            <a:avLst>
              <a:gd name="adj" fmla="val 7500"/>
            </a:avLst>
          </a:prstGeom>
          <a:solidFill>
            <a:srgbClr val="FFFFFF">
              <a:alpha val="88000"/>
            </a:srgbClr>
          </a:solidFill>
          <a:ln w="12700">
            <a:solidFill>
              <a:srgbClr val="AFC1DE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503920" y="2148840"/>
            <a:ext cx="502920" cy="502920"/>
          </a:xfrm>
          <a:prstGeom prst="ellipse">
            <a:avLst/>
          </a:prstGeom>
          <a:solidFill>
            <a:srgbClr val="DDE7F5"/>
          </a:solidFill>
          <a:ln w="12700">
            <a:solidFill>
              <a:srgbClr val="AFC1DE">
                <a:alpha val="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144000" y="2240280"/>
            <a:ext cx="2057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A4A66"/>
                </a:solidFill>
              </a:rPr>
              <a:t>图片 / 图标 / 截图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8503920" y="2743200"/>
            <a:ext cx="2697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F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垂直流程图，从天气API开始，经过规则过滤、数据库匹配、偏好加权，最终到前端三套穿搭展示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503920" y="2971800"/>
            <a:ext cx="2697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F6B7A"/>
                </a:solidFill>
              </a:rPr>
              <a:t>建议关键词：推荐流程 / 决策树 / 过滤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8183880" y="3474720"/>
            <a:ext cx="3291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A4A66"/>
                </a:solidFill>
              </a:rPr>
              <a:t>时间轴 / 流程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6876288" y="1874520"/>
            <a:ext cx="4754880" cy="2971800"/>
          </a:xfrm>
          <a:prstGeom prst="roundRect">
            <a:avLst>
              <a:gd name="adj" fmla="val 3077"/>
            </a:avLst>
          </a:prstGeom>
          <a:solidFill>
            <a:srgbClr val="FFFFFF">
              <a:alpha val="90000"/>
            </a:srgbClr>
          </a:solidFill>
          <a:ln w="12700">
            <a:solidFill>
              <a:srgbClr val="AFC1DE">
                <a:alpha val="85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086600" y="2103120"/>
            <a:ext cx="914400" cy="2103120"/>
          </a:xfrm>
          <a:prstGeom prst="roundRect">
            <a:avLst>
              <a:gd name="adj" fmla="val 8000"/>
            </a:avLst>
          </a:prstGeom>
          <a:solidFill>
            <a:srgbClr val="DDE7F5"/>
          </a:solidFill>
          <a:ln w="12700">
            <a:solidFill>
              <a:srgbClr val="AFC1DE">
                <a:alpha val="10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183880" y="1828800"/>
            <a:ext cx="914400" cy="2377440"/>
          </a:xfrm>
          <a:prstGeom prst="roundRect">
            <a:avLst>
              <a:gd name="adj" fmla="val 8000"/>
            </a:avLst>
          </a:prstGeom>
          <a:solidFill>
            <a:srgbClr val="AFC1DE"/>
          </a:solidFill>
          <a:ln w="12700">
            <a:solidFill>
              <a:srgbClr val="AFC1DE">
                <a:alpha val="10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9281160" y="2240280"/>
            <a:ext cx="914400" cy="1965960"/>
          </a:xfrm>
          <a:prstGeom prst="roundRect">
            <a:avLst>
              <a:gd name="adj" fmla="val 8000"/>
            </a:avLst>
          </a:prstGeom>
          <a:solidFill>
            <a:srgbClr val="DDE7F5"/>
          </a:solidFill>
          <a:ln w="12700">
            <a:solidFill>
              <a:srgbClr val="AFC1DE">
                <a:alpha val="10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0378440" y="2011680"/>
            <a:ext cx="914400" cy="2194560"/>
          </a:xfrm>
          <a:prstGeom prst="roundRect">
            <a:avLst>
              <a:gd name="adj" fmla="val 8000"/>
            </a:avLst>
          </a:prstGeom>
          <a:solidFill>
            <a:srgbClr val="AFC1DE"/>
          </a:solidFill>
          <a:ln w="12700">
            <a:solidFill>
              <a:srgbClr val="AFC1DE">
                <a:alpha val="1000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543800" y="4590288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3A4A66"/>
                </a:solidFill>
              </a:rPr>
              <a:t>图片占位区</a:t>
            </a:r>
            <a:endParaRPr lang="en-US" sz="1350" dirty="0"/>
          </a:p>
        </p:txBody>
      </p:sp>
      <p:sp>
        <p:nvSpPr>
          <p:cNvPr id="41" name="Text 39"/>
          <p:cNvSpPr/>
          <p:nvPr/>
        </p:nvSpPr>
        <p:spPr>
          <a:xfrm>
            <a:off x="7132320" y="4892040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F6B7A"/>
                </a:solidFill>
              </a:rPr>
              <a:t>关键词：推荐流程 / 决策树 / 过滤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EEF3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201400" y="0"/>
            <a:ext cx="137160" cy="6858000"/>
          </a:xfrm>
          <a:prstGeom prst="rect">
            <a:avLst/>
          </a:prstGeom>
          <a:solidFill>
            <a:srgbClr val="DDE7F5"/>
          </a:solidFill>
          <a:ln w="12700">
            <a:solidFill>
              <a:srgbClr val="DDE7F5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972800" y="5943600"/>
            <a:ext cx="731520" cy="731520"/>
          </a:xfrm>
          <a:prstGeom prst="ellipse">
            <a:avLst/>
          </a:prstGeom>
          <a:solidFill>
            <a:srgbClr val="AFC1DE">
              <a:alpha val="65000"/>
            </a:srgbClr>
          </a:solidFill>
          <a:ln w="12700">
            <a:solidFill>
              <a:srgbClr val="AFC1DE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411480"/>
            <a:ext cx="10789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A4A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项目效果与展示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12648" y="932688"/>
            <a:ext cx="10515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F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真实环境测试数据与用户反馈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11155680" y="384048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FC1D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94360" y="1243584"/>
            <a:ext cx="10972800" cy="0"/>
          </a:xfrm>
          <a:prstGeom prst="line">
            <a:avLst/>
          </a:prstGeom>
          <a:noFill/>
          <a:ln w="12700">
            <a:solidFill>
              <a:srgbClr val="AFC1D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1645920"/>
            <a:ext cx="10972800" cy="448056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AFC1DE">
                <a:alpha val="8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14400" y="1938528"/>
            <a:ext cx="5532120" cy="566928"/>
          </a:xfrm>
          <a:prstGeom prst="roundRect">
            <a:avLst>
              <a:gd name="adj" fmla="val 12903"/>
            </a:avLst>
          </a:prstGeom>
          <a:solidFill>
            <a:srgbClr val="DDE7F5"/>
          </a:solidFill>
          <a:ln w="12700">
            <a:solidFill>
              <a:srgbClr val="AFC1DE">
                <a:alpha val="65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97280" y="2084832"/>
            <a:ext cx="5212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A4A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测试覆盖北京、上海、广州等10个城市，30天连续运行，采集成功率98.7%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914400" y="2651760"/>
            <a:ext cx="553212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AFC1DE">
                <a:alpha val="65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97280" y="2798064"/>
            <a:ext cx="5212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A4A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推荐准确率：70%用户反馈推荐的搭配“非常合适”或“合适”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914400" y="3364992"/>
            <a:ext cx="5532120" cy="566928"/>
          </a:xfrm>
          <a:prstGeom prst="roundRect">
            <a:avLst>
              <a:gd name="adj" fmla="val 12903"/>
            </a:avLst>
          </a:prstGeom>
          <a:solidFill>
            <a:srgbClr val="DDE7F5"/>
          </a:solidFill>
          <a:ln w="12700">
            <a:solidFill>
              <a:srgbClr val="AFC1DE">
                <a:alpha val="65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97280" y="3511296"/>
            <a:ext cx="5212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A4A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对比传统查询方式，用户平均决策时间从8分钟缩短至20秒以内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914400" y="4078224"/>
            <a:ext cx="553212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AFC1DE">
                <a:alpha val="65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97280" y="4224528"/>
            <a:ext cx="5212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A4A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系统资源占用：内存&lt;150MB，CPU峰值&lt;15%，满足日常使用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914400" y="4791456"/>
            <a:ext cx="5532120" cy="566928"/>
          </a:xfrm>
          <a:prstGeom prst="roundRect">
            <a:avLst>
              <a:gd name="adj" fmla="val 12903"/>
            </a:avLst>
          </a:prstGeom>
          <a:solidFill>
            <a:srgbClr val="DDE7F5"/>
          </a:solidFill>
          <a:ln w="12700">
            <a:solidFill>
              <a:srgbClr val="AFC1DE">
                <a:alpha val="65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97280" y="4937760"/>
            <a:ext cx="5212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A4A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界面展示效果图与实际运行截图（演示环节展示）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812280" y="1965960"/>
            <a:ext cx="4526280" cy="1965960"/>
          </a:xfrm>
          <a:prstGeom prst="roundRect">
            <a:avLst>
              <a:gd name="adj" fmla="val 5581"/>
            </a:avLst>
          </a:prstGeom>
          <a:solidFill>
            <a:srgbClr val="FFFFFF">
              <a:alpha val="88000"/>
            </a:srgbClr>
          </a:solidFill>
          <a:ln w="12700">
            <a:solidFill>
              <a:srgbClr val="AFC1D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132320" y="2286000"/>
            <a:ext cx="502920" cy="502920"/>
          </a:xfrm>
          <a:prstGeom prst="ellipse">
            <a:avLst/>
          </a:prstGeom>
          <a:solidFill>
            <a:srgbClr val="DDE7F5"/>
          </a:solidFill>
          <a:ln w="12700">
            <a:solidFill>
              <a:srgbClr val="AFC1DE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772400" y="2377440"/>
            <a:ext cx="3246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A4A66"/>
                </a:solidFill>
              </a:rPr>
              <a:t>图片 / 图标 / 截图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132320" y="2880360"/>
            <a:ext cx="3886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F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柱状图展示推荐准确率分布（非常合适45%，合适25%，一般20%，不合适10%），左侧配以系统截图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7132320" y="3611880"/>
            <a:ext cx="3886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F6B7A"/>
                </a:solidFill>
              </a:rPr>
              <a:t>建议关键词：测试数据 / 准确率 / 柱状图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6876288" y="1874520"/>
            <a:ext cx="4754880" cy="2971800"/>
          </a:xfrm>
          <a:prstGeom prst="roundRect">
            <a:avLst>
              <a:gd name="adj" fmla="val 3077"/>
            </a:avLst>
          </a:prstGeom>
          <a:solidFill>
            <a:srgbClr val="FFFFFF">
              <a:alpha val="90000"/>
            </a:srgbClr>
          </a:solidFill>
          <a:ln w="12700">
            <a:solidFill>
              <a:srgbClr val="AFC1DE">
                <a:alpha val="85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086600" y="2103120"/>
            <a:ext cx="914400" cy="2103120"/>
          </a:xfrm>
          <a:prstGeom prst="roundRect">
            <a:avLst>
              <a:gd name="adj" fmla="val 8000"/>
            </a:avLst>
          </a:prstGeom>
          <a:solidFill>
            <a:srgbClr val="DDE7F5"/>
          </a:solidFill>
          <a:ln w="12700">
            <a:solidFill>
              <a:srgbClr val="AFC1DE">
                <a:alpha val="10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183880" y="1828800"/>
            <a:ext cx="914400" cy="2377440"/>
          </a:xfrm>
          <a:prstGeom prst="roundRect">
            <a:avLst>
              <a:gd name="adj" fmla="val 8000"/>
            </a:avLst>
          </a:prstGeom>
          <a:solidFill>
            <a:srgbClr val="AFC1DE"/>
          </a:solidFill>
          <a:ln w="12700">
            <a:solidFill>
              <a:srgbClr val="AFC1DE">
                <a:alpha val="10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281160" y="2240280"/>
            <a:ext cx="914400" cy="1965960"/>
          </a:xfrm>
          <a:prstGeom prst="roundRect">
            <a:avLst>
              <a:gd name="adj" fmla="val 8000"/>
            </a:avLst>
          </a:prstGeom>
          <a:solidFill>
            <a:srgbClr val="DDE7F5"/>
          </a:solidFill>
          <a:ln w="12700">
            <a:solidFill>
              <a:srgbClr val="AFC1DE">
                <a:alpha val="10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0378440" y="2011680"/>
            <a:ext cx="914400" cy="2194560"/>
          </a:xfrm>
          <a:prstGeom prst="roundRect">
            <a:avLst>
              <a:gd name="adj" fmla="val 8000"/>
            </a:avLst>
          </a:prstGeom>
          <a:solidFill>
            <a:srgbClr val="AFC1DE"/>
          </a:solidFill>
          <a:ln w="12700">
            <a:solidFill>
              <a:srgbClr val="AFC1DE">
                <a:alpha val="10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543800" y="4590288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3A4A66"/>
                </a:solidFill>
              </a:rPr>
              <a:t>柱状示意</a:t>
            </a:r>
            <a:endParaRPr lang="en-US" sz="1350" dirty="0"/>
          </a:p>
        </p:txBody>
      </p:sp>
      <p:sp>
        <p:nvSpPr>
          <p:cNvPr id="30" name="Text 28"/>
          <p:cNvSpPr/>
          <p:nvPr/>
        </p:nvSpPr>
        <p:spPr>
          <a:xfrm>
            <a:off x="7132320" y="4892040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F6B7A"/>
                </a:solidFill>
              </a:rPr>
              <a:t>关键词：测试数据 / 准确率 / 柱状图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EEF3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201400" y="0"/>
            <a:ext cx="137160" cy="6858000"/>
          </a:xfrm>
          <a:prstGeom prst="rect">
            <a:avLst/>
          </a:prstGeom>
          <a:solidFill>
            <a:srgbClr val="DDE7F5"/>
          </a:solidFill>
          <a:ln w="12700">
            <a:solidFill>
              <a:srgbClr val="DDE7F5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972800" y="5943600"/>
            <a:ext cx="731520" cy="731520"/>
          </a:xfrm>
          <a:prstGeom prst="ellipse">
            <a:avLst/>
          </a:prstGeom>
          <a:solidFill>
            <a:srgbClr val="AFC1DE">
              <a:alpha val="65000"/>
            </a:srgbClr>
          </a:solidFill>
          <a:ln w="12700">
            <a:solidFill>
              <a:srgbClr val="AFC1DE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411480"/>
            <a:ext cx="10789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A4A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总结与展望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12648" y="932688"/>
            <a:ext cx="10515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F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已完成的工作与未来的星辰大海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11155680" y="384048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FC1D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94360" y="1243584"/>
            <a:ext cx="10972800" cy="0"/>
          </a:xfrm>
          <a:prstGeom prst="line">
            <a:avLst/>
          </a:prstGeom>
          <a:noFill/>
          <a:ln w="12700">
            <a:solidFill>
              <a:srgbClr val="AFC1D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" y="1737360"/>
            <a:ext cx="10881360" cy="429768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AFC1DE">
                <a:alpha val="8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51560" y="2103120"/>
            <a:ext cx="164592" cy="164592"/>
          </a:xfrm>
          <a:prstGeom prst="ellipse">
            <a:avLst/>
          </a:prstGeom>
          <a:solidFill>
            <a:srgbClr val="AFC1DE"/>
          </a:solidFill>
          <a:ln w="12700">
            <a:solidFill>
              <a:srgbClr val="AFC1DE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353312" y="2048256"/>
            <a:ext cx="9601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80" dirty="0">
                <a:solidFill>
                  <a:srgbClr val="5F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成功搭建了一个从数据采集到智能推荐的全流程解决方案</a:t>
            </a:r>
            <a:endParaRPr lang="en-US" sz="1280" dirty="0"/>
          </a:p>
        </p:txBody>
      </p:sp>
      <p:sp>
        <p:nvSpPr>
          <p:cNvPr id="11" name="Shape 9"/>
          <p:cNvSpPr/>
          <p:nvPr/>
        </p:nvSpPr>
        <p:spPr>
          <a:xfrm>
            <a:off x="1051560" y="2816352"/>
            <a:ext cx="164592" cy="164592"/>
          </a:xfrm>
          <a:prstGeom prst="ellipse">
            <a:avLst/>
          </a:prstGeom>
          <a:solidFill>
            <a:srgbClr val="AFC1DE"/>
          </a:solidFill>
          <a:ln w="12700">
            <a:solidFill>
              <a:srgbClr val="AFC1DE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353312" y="2761488"/>
            <a:ext cx="9601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80" dirty="0">
                <a:solidFill>
                  <a:srgbClr val="5F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综合运用爬虫、数据库、GUI技术，解决了天气穿搭的实际问题</a:t>
            </a:r>
            <a:endParaRPr lang="en-US" sz="1280" dirty="0"/>
          </a:p>
        </p:txBody>
      </p:sp>
      <p:sp>
        <p:nvSpPr>
          <p:cNvPr id="13" name="Shape 11"/>
          <p:cNvSpPr/>
          <p:nvPr/>
        </p:nvSpPr>
        <p:spPr>
          <a:xfrm>
            <a:off x="1051560" y="3529584"/>
            <a:ext cx="164592" cy="164592"/>
          </a:xfrm>
          <a:prstGeom prst="ellipse">
            <a:avLst/>
          </a:prstGeom>
          <a:solidFill>
            <a:srgbClr val="AFC1DE"/>
          </a:solidFill>
          <a:ln w="12700">
            <a:solidFill>
              <a:srgbClr val="AFC1DE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353312" y="3474720"/>
            <a:ext cx="9601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80" dirty="0">
                <a:solidFill>
                  <a:srgbClr val="5F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验证了多源数据融合在生活服务领域的可行性</a:t>
            </a:r>
            <a:endParaRPr lang="en-US" sz="1280" dirty="0"/>
          </a:p>
        </p:txBody>
      </p:sp>
      <p:sp>
        <p:nvSpPr>
          <p:cNvPr id="15" name="Shape 13"/>
          <p:cNvSpPr/>
          <p:nvPr/>
        </p:nvSpPr>
        <p:spPr>
          <a:xfrm>
            <a:off x="1051560" y="4242816"/>
            <a:ext cx="164592" cy="164592"/>
          </a:xfrm>
          <a:prstGeom prst="ellipse">
            <a:avLst/>
          </a:prstGeom>
          <a:solidFill>
            <a:srgbClr val="AFC1DE"/>
          </a:solidFill>
          <a:ln w="12700">
            <a:solidFill>
              <a:srgbClr val="AFC1DE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353312" y="4187952"/>
            <a:ext cx="9601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80" dirty="0">
                <a:solidFill>
                  <a:srgbClr val="5F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未来计划：引入机器学习模型提升推荐精度，扩展至移动端小程序</a:t>
            </a:r>
            <a:endParaRPr lang="en-US" sz="1280" dirty="0"/>
          </a:p>
        </p:txBody>
      </p:sp>
      <p:sp>
        <p:nvSpPr>
          <p:cNvPr id="17" name="Shape 15"/>
          <p:cNvSpPr/>
          <p:nvPr/>
        </p:nvSpPr>
        <p:spPr>
          <a:xfrm>
            <a:off x="1051560" y="4956048"/>
            <a:ext cx="164592" cy="164592"/>
          </a:xfrm>
          <a:prstGeom prst="ellipse">
            <a:avLst/>
          </a:prstGeom>
          <a:solidFill>
            <a:srgbClr val="AFC1DE"/>
          </a:solidFill>
          <a:ln w="12700">
            <a:solidFill>
              <a:srgbClr val="AFC1DE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353312" y="4901184"/>
            <a:ext cx="9601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80" dirty="0">
                <a:solidFill>
                  <a:srgbClr val="5F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可对接智能衣柜等IoT设备，实现自动推荐穿衣方案</a:t>
            </a:r>
            <a:endParaRPr lang="en-US" sz="1280" dirty="0"/>
          </a:p>
        </p:txBody>
      </p:sp>
      <p:sp>
        <p:nvSpPr>
          <p:cNvPr id="19" name="Text 17"/>
          <p:cNvSpPr/>
          <p:nvPr/>
        </p:nvSpPr>
        <p:spPr>
          <a:xfrm>
            <a:off x="8778240" y="516636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A4A66"/>
                </a:solidFill>
              </a:rPr>
              <a:t>谢谢聆听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Workspace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天气衣橱简介.docx</dc:title>
  <dc:subject>答辩PPT</dc:subject>
  <dc:creator>Workspace AI</dc:creator>
  <cp:lastModifiedBy>Workspace AI</cp:lastModifiedBy>
  <cp:revision>1</cp:revision>
  <dcterms:created xsi:type="dcterms:W3CDTF">2026-07-01T21:28:45Z</dcterms:created>
  <dcterms:modified xsi:type="dcterms:W3CDTF">2026-07-01T21:28:45Z</dcterms:modified>
</cp:coreProperties>
</file>